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109728" cy="3474720"/>
          </a:xfrm>
          <a:prstGeom prst="rect">
            <a:avLst/>
          </a:prstGeom>
          <a:solidFill>
            <a:srgbClr val="00A6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10058400" cy="3840480"/>
          </a:xfrm>
          <a:prstGeom prst="rect">
            <a:avLst/>
          </a:prstGeom>
          <a:noFill/>
        </p:spPr>
        <p:txBody>
          <a:bodyPr wrap="square" lIns="0" tIns="0" rIns="0" bIns="0">
            <a:spAutoFit/>
          </a:bodyPr>
          <a:lstStyle/>
          <a:p>
            <a:pPr>
              <a:defRPr sz="1300" b="1">
                <a:solidFill>
                  <a:srgbClr val="38BDF8"/>
                </a:solidFill>
                <a:latin typeface="Arial"/>
              </a:defRPr>
            </a:pPr>
            <a:r>
              <a:t>VISITING MEDIA | COMMERCIAL VALUE INTELLIGENCE</a:t>
            </a:r>
          </a:p>
          <a:p>
            <a:pPr>
              <a:spcBef>
                <a:spcPts val="1200"/>
              </a:spcBef>
              <a:defRPr sz="3800" b="1">
                <a:solidFill>
                  <a:srgbClr val="FFFFFF"/>
                </a:solidFill>
                <a:latin typeface="Arial"/>
              </a:defRPr>
            </a:pPr>
            <a:r>
              <a:t>Customer ROI &amp; Value Intelligence</a:t>
            </a:r>
          </a:p>
          <a:p>
            <a:pPr>
              <a:spcBef>
                <a:spcPts val="1000"/>
              </a:spcBef>
              <a:defRPr sz="1800">
                <a:solidFill>
                  <a:srgbClr val="CBD5E1"/>
                </a:solidFill>
                <a:latin typeface="Arial"/>
              </a:defRPr>
            </a:pPr>
            <a:r>
              <a:t>Executive Summary &amp; Financial Business Case for Hospitality Sales Enablement</a:t>
            </a:r>
          </a:p>
          <a:p>
            <a:pPr>
              <a:spcBef>
                <a:spcPts val="1600"/>
              </a:spcBef>
              <a:defRPr sz="1300">
                <a:solidFill>
                  <a:srgbClr val="94A3B8"/>
                </a:solidFill>
                <a:latin typeface="Arial"/>
              </a:defRPr>
            </a:pPr>
            <a:r>
              <a:t>Proven economics, empirical case studies, and quantitative return models across 4,000+ properties globally</a:t>
            </a:r>
          </a:p>
        </p:txBody>
      </p:sp>
      <p:sp>
        <p:nvSpPr>
          <p:cNvPr id="5" name="Rounded Rectangle 4"/>
          <p:cNvSpPr/>
          <p:nvPr/>
        </p:nvSpPr>
        <p:spPr>
          <a:xfrm>
            <a:off x="731520" y="5303520"/>
            <a:ext cx="10728655" cy="822960"/>
          </a:xfrm>
          <a:prstGeom prst="roundRect">
            <a:avLst/>
          </a:prstGeom>
          <a:solidFill>
            <a:srgbClr val="101934"/>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5440680"/>
            <a:ext cx="10149840" cy="548640"/>
          </a:xfrm>
          <a:prstGeom prst="rect">
            <a:avLst/>
          </a:prstGeom>
          <a:noFill/>
        </p:spPr>
        <p:txBody>
          <a:bodyPr wrap="none">
            <a:spAutoFit/>
          </a:bodyPr>
          <a:lstStyle/>
          <a:p>
            <a:pPr>
              <a:defRPr sz="1100">
                <a:solidFill>
                  <a:srgbClr val="38BDF8"/>
                </a:solidFill>
                <a:latin typeface="Arial"/>
              </a:defRPr>
            </a:pPr>
            <a:r>
              <a:t>PREPARED FOR: Executive Sales Leadership &amp; Prospect Decision Committees  |  AUTHOR: Global Sales Enablement  |  SOURCE: vm-sales-roi-microsite.vercel.app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97280"/>
          </a:xfrm>
          <a:prstGeom prst="rect">
            <a:avLst/>
          </a:prstGeom>
          <a:noFill/>
        </p:spPr>
        <p:txBody>
          <a:bodyPr wrap="square" lIns="0" tIns="0" rIns="0" bIns="0">
            <a:spAutoFit/>
          </a:bodyPr>
          <a:lstStyle/>
          <a:p>
            <a:pPr>
              <a:defRPr sz="1100" b="1">
                <a:solidFill>
                  <a:srgbClr val="38BDF8"/>
                </a:solidFill>
                <a:latin typeface="Arial"/>
              </a:defRPr>
            </a:pPr>
            <a:r>
              <a:t>STRATEGIC CONTEXT</a:t>
            </a:r>
          </a:p>
          <a:p>
            <a:pPr>
              <a:spcBef>
                <a:spcPts val="300"/>
              </a:spcBef>
              <a:defRPr sz="2400" b="1">
                <a:solidFill>
                  <a:srgbClr val="FFFFFF"/>
                </a:solidFill>
                <a:latin typeface="Arial"/>
              </a:defRPr>
            </a:pPr>
            <a:r>
              <a:t>The Hospitality Selling Friction &amp; The Spatial Solution</a:t>
            </a:r>
          </a:p>
          <a:p>
            <a:pPr>
              <a:spcBef>
                <a:spcPts val="300"/>
              </a:spcBef>
              <a:defRPr sz="1200">
                <a:solidFill>
                  <a:srgbClr val="94A3B8"/>
                </a:solidFill>
                <a:latin typeface="Arial"/>
              </a:defRPr>
            </a:pPr>
            <a:r>
              <a:t>Why traditional event sales stall, and how immersive selling unlocks velocity</a:t>
            </a:r>
          </a:p>
        </p:txBody>
      </p:sp>
      <p:sp>
        <p:nvSpPr>
          <p:cNvPr id="4" name="Rounded Rectangle 3"/>
          <p:cNvSpPr/>
          <p:nvPr/>
        </p:nvSpPr>
        <p:spPr>
          <a:xfrm>
            <a:off x="731520" y="1691640"/>
            <a:ext cx="5166360" cy="4572000"/>
          </a:xfrm>
          <a:prstGeom prst="roundRect">
            <a:avLst/>
          </a:prstGeom>
          <a:solidFill>
            <a:srgbClr val="181424"/>
          </a:solidFill>
          <a:ln w="12700">
            <a:solidFill>
              <a:srgbClr val="783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874519"/>
            <a:ext cx="4617720" cy="4114800"/>
          </a:xfrm>
          <a:prstGeom prst="rect">
            <a:avLst/>
          </a:prstGeom>
          <a:noFill/>
        </p:spPr>
        <p:txBody>
          <a:bodyPr wrap="square">
            <a:spAutoFit/>
          </a:bodyPr>
          <a:lstStyle/>
          <a:p>
            <a:pPr>
              <a:defRPr sz="1400" b="1">
                <a:solidFill>
                  <a:srgbClr val="F87171"/>
                </a:solidFill>
                <a:latin typeface="Arial"/>
              </a:defRPr>
            </a:pPr>
            <a:r>
              <a:t>THE TRADITIONAL SALES BOTTLENECK</a:t>
            </a:r>
          </a:p>
          <a:p>
            <a:pPr>
              <a:spcBef>
                <a:spcPts val="1000"/>
              </a:spcBef>
              <a:defRPr sz="1100" b="1">
                <a:solidFill>
                  <a:srgbClr val="FFFFFF"/>
                </a:solidFill>
                <a:latin typeface="Arial"/>
              </a:defRPr>
            </a:pPr>
            <a:r>
              <a:t>• Static 2D Photography &amp; Outdated PDFs: </a:t>
            </a:r>
            <a:r>
              <a:rPr b="0">
                <a:solidFill>
                  <a:srgbClr val="94A3B8"/>
                </a:solidFill>
              </a:rPr>
              <a:t>Planners cannot decipher ceiling heights, lighting, sightlines, or layout flexibility from photos, creating hesitation and risk aversion.</a:t>
            </a:r>
          </a:p>
          <a:p>
            <a:pPr>
              <a:spcBef>
                <a:spcPts val="1000"/>
              </a:spcBef>
              <a:defRPr sz="1100" b="1">
                <a:solidFill>
                  <a:srgbClr val="FFFFFF"/>
                </a:solidFill>
                <a:latin typeface="Arial"/>
              </a:defRPr>
            </a:pPr>
            <a:r>
              <a:t>• Slow 20–35 Day Average Sales Cycles: </a:t>
            </a:r>
            <a:r>
              <a:rPr b="0">
                <a:solidFill>
                  <a:srgbClr val="94A3B8"/>
                </a:solidFill>
              </a:rPr>
              <a:t>Deals stall waiting for physical site inspections or remote buyer committee alignments across different cities and timezones.</a:t>
            </a:r>
          </a:p>
          <a:p>
            <a:pPr>
              <a:spcBef>
                <a:spcPts val="1000"/>
              </a:spcBef>
              <a:defRPr sz="1100" b="1">
                <a:solidFill>
                  <a:srgbClr val="FFFFFF"/>
                </a:solidFill>
                <a:latin typeface="Arial"/>
              </a:defRPr>
            </a:pPr>
            <a:r>
              <a:t>• Vulnerability to Competitor Speed: </a:t>
            </a:r>
            <a:r>
              <a:rPr b="0">
                <a:solidFill>
                  <a:srgbClr val="94A3B8"/>
                </a:solidFill>
              </a:rPr>
              <a:t>56% of group RFPs are awarded to the earliest responders. Competing properties with modern visual tools capture the shortlist first.</a:t>
            </a:r>
          </a:p>
          <a:p>
            <a:pPr>
              <a:spcBef>
                <a:spcPts val="1000"/>
              </a:spcBef>
              <a:defRPr sz="1100" b="1">
                <a:solidFill>
                  <a:srgbClr val="FFFFFF"/>
                </a:solidFill>
                <a:latin typeface="Arial"/>
              </a:defRPr>
            </a:pPr>
            <a:r>
              <a:t>• Massive Unproductive Rep Time: </a:t>
            </a:r>
            <a:r>
              <a:rPr b="0">
                <a:solidFill>
                  <a:srgbClr val="94A3B8"/>
                </a:solidFill>
              </a:rPr>
              <a:t>Sales managers spend 400+ hours/year coordinating site tours, chasing attachments, and fielding basic spatial layout questions.</a:t>
            </a:r>
          </a:p>
        </p:txBody>
      </p:sp>
      <p:sp>
        <p:nvSpPr>
          <p:cNvPr id="6" name="Rounded Rectangle 5"/>
          <p:cNvSpPr/>
          <p:nvPr/>
        </p:nvSpPr>
        <p:spPr>
          <a:xfrm>
            <a:off x="6263640" y="1691640"/>
            <a:ext cx="5166360" cy="4572000"/>
          </a:xfrm>
          <a:prstGeom prst="roundRect">
            <a:avLst/>
          </a:prstGeom>
          <a:solidFill>
            <a:srgbClr val="102038"/>
          </a:solidFill>
          <a:ln w="12700">
            <a:solidFill>
              <a:srgbClr val="00A6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37960" y="1874519"/>
            <a:ext cx="4617720" cy="4114800"/>
          </a:xfrm>
          <a:prstGeom prst="rect">
            <a:avLst/>
          </a:prstGeom>
          <a:noFill/>
        </p:spPr>
        <p:txBody>
          <a:bodyPr wrap="square">
            <a:spAutoFit/>
          </a:bodyPr>
          <a:lstStyle/>
          <a:p>
            <a:pPr>
              <a:defRPr sz="1400" b="1">
                <a:solidFill>
                  <a:srgbClr val="38BDF8"/>
                </a:solidFill>
                <a:latin typeface="Arial"/>
              </a:defRPr>
            </a:pPr>
            <a:r>
              <a:t>THE VISITING MEDIA SPATIAL ADVANTAGE</a:t>
            </a:r>
          </a:p>
          <a:p>
            <a:pPr>
              <a:spcBef>
                <a:spcPts val="1000"/>
              </a:spcBef>
              <a:defRPr sz="1100" b="1">
                <a:solidFill>
                  <a:srgbClr val="FFFFFF"/>
                </a:solidFill>
                <a:latin typeface="Arial"/>
              </a:defRPr>
            </a:pPr>
            <a:r>
              <a:t>• Immersive 3D Digital Twin Delivery: </a:t>
            </a:r>
            <a:r>
              <a:rPr b="0">
                <a:solidFill>
                  <a:srgbClr val="94A3B8"/>
                </a:solidFill>
              </a:rPr>
              <a:t>Interactive spatial navigation delivers 100% layout certainty, allowing planners to configure tables, staging, and A/V dynamically.</a:t>
            </a:r>
          </a:p>
          <a:p>
            <a:pPr>
              <a:spcBef>
                <a:spcPts val="1000"/>
              </a:spcBef>
              <a:defRPr sz="1100" b="1">
                <a:solidFill>
                  <a:srgbClr val="FFFFFF"/>
                </a:solidFill>
                <a:latin typeface="Arial"/>
              </a:defRPr>
            </a:pPr>
            <a:r>
              <a:t>• 48% Sales Cycle Compression: </a:t>
            </a:r>
            <a:r>
              <a:rPr b="0">
                <a:solidFill>
                  <a:srgbClr val="94A3B8"/>
                </a:solidFill>
              </a:rPr>
              <a:t>Properties cut closing times from 35 days to 18 days by hosting remote guided walk-throughs that answer questions immediately.</a:t>
            </a:r>
          </a:p>
          <a:p>
            <a:pPr>
              <a:spcBef>
                <a:spcPts val="1000"/>
              </a:spcBef>
              <a:defRPr sz="1100" b="1">
                <a:solidFill>
                  <a:srgbClr val="FFFFFF"/>
                </a:solidFill>
                <a:latin typeface="Arial"/>
              </a:defRPr>
            </a:pPr>
            <a:r>
              <a:t>• +25% to +39% Group Close Ratio Expansion: </a:t>
            </a:r>
            <a:r>
              <a:rPr b="0">
                <a:solidFill>
                  <a:srgbClr val="94A3B8"/>
                </a:solidFill>
              </a:rPr>
              <a:t>Verified across 500+ properties; instant visualization elevates proposal conversion and protects premium ADR.</a:t>
            </a:r>
          </a:p>
          <a:p>
            <a:pPr>
              <a:spcBef>
                <a:spcPts val="1000"/>
              </a:spcBef>
              <a:defRPr sz="1100" b="1">
                <a:solidFill>
                  <a:srgbClr val="FFFFFF"/>
                </a:solidFill>
                <a:latin typeface="Arial"/>
              </a:defRPr>
            </a:pPr>
            <a:r>
              <a:t>• 400+ Hours Saved per Seller Annually: </a:t>
            </a:r>
            <a:r>
              <a:rPr b="0">
                <a:solidFill>
                  <a:srgbClr val="94A3B8"/>
                </a:solidFill>
              </a:rPr>
              <a:t>Automates standard walkthroughs and proposal collateral, redirecting hours into high-margin outbound pipeline generation.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97280"/>
          </a:xfrm>
          <a:prstGeom prst="rect">
            <a:avLst/>
          </a:prstGeom>
          <a:noFill/>
        </p:spPr>
        <p:txBody>
          <a:bodyPr wrap="square" lIns="0" tIns="0" rIns="0" bIns="0">
            <a:spAutoFit/>
          </a:bodyPr>
          <a:lstStyle/>
          <a:p>
            <a:pPr>
              <a:defRPr sz="1100" b="1">
                <a:solidFill>
                  <a:srgbClr val="38BDF8"/>
                </a:solidFill>
                <a:latin typeface="Arial"/>
              </a:defRPr>
            </a:pPr>
            <a:r>
              <a:t>SOURCED PERFORMANCE PROOF</a:t>
            </a:r>
          </a:p>
          <a:p>
            <a:pPr>
              <a:spcBef>
                <a:spcPts val="300"/>
              </a:spcBef>
              <a:defRPr sz="2400" b="1">
                <a:solidFill>
                  <a:srgbClr val="FFFFFF"/>
                </a:solidFill>
                <a:latin typeface="Arial"/>
              </a:defRPr>
            </a:pPr>
            <a:r>
              <a:t>Headline Economic Benchmarks</a:t>
            </a:r>
          </a:p>
          <a:p>
            <a:pPr>
              <a:spcBef>
                <a:spcPts val="300"/>
              </a:spcBef>
              <a:defRPr sz="1200">
                <a:solidFill>
                  <a:srgbClr val="94A3B8"/>
                </a:solidFill>
                <a:latin typeface="Arial"/>
              </a:defRPr>
            </a:pPr>
            <a:r>
              <a:t>Empirically measured outcomes across leading global hotel and resort portfolios</a:t>
            </a:r>
          </a:p>
        </p:txBody>
      </p:sp>
      <p:sp>
        <p:nvSpPr>
          <p:cNvPr id="4" name="Rounded Rectangle 3"/>
          <p:cNvSpPr/>
          <p:nvPr/>
        </p:nvSpPr>
        <p:spPr>
          <a:xfrm>
            <a:off x="731520" y="1691640"/>
            <a:ext cx="2514600" cy="338328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920240"/>
            <a:ext cx="2148840" cy="2926080"/>
          </a:xfrm>
          <a:prstGeom prst="rect">
            <a:avLst/>
          </a:prstGeom>
          <a:noFill/>
        </p:spPr>
        <p:txBody>
          <a:bodyPr wrap="square">
            <a:spAutoFit/>
          </a:bodyPr>
          <a:lstStyle/>
          <a:p>
            <a:pPr>
              <a:defRPr sz="3600" b="1">
                <a:solidFill>
                  <a:srgbClr val="38BDF8"/>
                </a:solidFill>
                <a:latin typeface="Arial"/>
              </a:defRPr>
            </a:pPr>
            <a:r>
              <a:t>17×</a:t>
            </a:r>
          </a:p>
          <a:p>
            <a:pPr>
              <a:spcBef>
                <a:spcPts val="600"/>
              </a:spcBef>
              <a:defRPr sz="1400" b="1">
                <a:solidFill>
                  <a:srgbClr val="FFFFFF"/>
                </a:solidFill>
                <a:latin typeface="Arial"/>
              </a:defRPr>
            </a:pPr>
            <a:r>
              <a:t>First-Quarter ROI</a:t>
            </a:r>
          </a:p>
          <a:p>
            <a:pPr>
              <a:spcBef>
                <a:spcPts val="1000"/>
              </a:spcBef>
              <a:defRPr sz="1100">
                <a:solidFill>
                  <a:srgbClr val="94A3B8"/>
                </a:solidFill>
                <a:latin typeface="Arial"/>
              </a:defRPr>
            </a:pPr>
            <a:r>
              <a:t>Direct cash payback realized through accelerated closing speed and multi-channel asset distribution.</a:t>
            </a:r>
          </a:p>
        </p:txBody>
      </p:sp>
      <p:sp>
        <p:nvSpPr>
          <p:cNvPr id="6" name="Rounded Rectangle 5"/>
          <p:cNvSpPr/>
          <p:nvPr/>
        </p:nvSpPr>
        <p:spPr>
          <a:xfrm>
            <a:off x="3465576" y="1691640"/>
            <a:ext cx="2514600" cy="338328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48456" y="1920240"/>
            <a:ext cx="2148840" cy="2926080"/>
          </a:xfrm>
          <a:prstGeom prst="rect">
            <a:avLst/>
          </a:prstGeom>
          <a:noFill/>
        </p:spPr>
        <p:txBody>
          <a:bodyPr wrap="square">
            <a:spAutoFit/>
          </a:bodyPr>
          <a:lstStyle/>
          <a:p>
            <a:pPr>
              <a:defRPr sz="3600" b="1">
                <a:solidFill>
                  <a:srgbClr val="10B981"/>
                </a:solidFill>
                <a:latin typeface="Arial"/>
              </a:defRPr>
            </a:pPr>
            <a:r>
              <a:t>+25–39%</a:t>
            </a:r>
          </a:p>
          <a:p>
            <a:pPr>
              <a:spcBef>
                <a:spcPts val="600"/>
              </a:spcBef>
              <a:defRPr sz="1400" b="1">
                <a:solidFill>
                  <a:srgbClr val="FFFFFF"/>
                </a:solidFill>
                <a:latin typeface="Arial"/>
              </a:defRPr>
            </a:pPr>
            <a:r>
              <a:t>Group Closing Lift</a:t>
            </a:r>
          </a:p>
          <a:p>
            <a:pPr>
              <a:spcBef>
                <a:spcPts val="1000"/>
              </a:spcBef>
              <a:defRPr sz="1100">
                <a:solidFill>
                  <a:srgbClr val="94A3B8"/>
                </a:solidFill>
                <a:latin typeface="Arial"/>
              </a:defRPr>
            </a:pPr>
            <a:r>
              <a:t>Documented increase in proposal win rate when interactive 3D spaces replace traditional static PDFs.</a:t>
            </a:r>
          </a:p>
        </p:txBody>
      </p:sp>
      <p:sp>
        <p:nvSpPr>
          <p:cNvPr id="8" name="Rounded Rectangle 7"/>
          <p:cNvSpPr/>
          <p:nvPr/>
        </p:nvSpPr>
        <p:spPr>
          <a:xfrm>
            <a:off x="6199632" y="1691640"/>
            <a:ext cx="2514600" cy="338328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1920240"/>
            <a:ext cx="2148840" cy="2926080"/>
          </a:xfrm>
          <a:prstGeom prst="rect">
            <a:avLst/>
          </a:prstGeom>
          <a:noFill/>
        </p:spPr>
        <p:txBody>
          <a:bodyPr wrap="square">
            <a:spAutoFit/>
          </a:bodyPr>
          <a:lstStyle/>
          <a:p>
            <a:pPr>
              <a:defRPr sz="3600" b="1">
                <a:solidFill>
                  <a:srgbClr val="38BDF8"/>
                </a:solidFill>
                <a:latin typeface="Arial"/>
              </a:defRPr>
            </a:pPr>
            <a:r>
              <a:t>48%</a:t>
            </a:r>
          </a:p>
          <a:p>
            <a:pPr>
              <a:spcBef>
                <a:spcPts val="600"/>
              </a:spcBef>
              <a:defRPr sz="1400" b="1">
                <a:solidFill>
                  <a:srgbClr val="FFFFFF"/>
                </a:solidFill>
                <a:latin typeface="Arial"/>
              </a:defRPr>
            </a:pPr>
            <a:r>
              <a:t>Sales Cycle Compression</a:t>
            </a:r>
          </a:p>
          <a:p>
            <a:pPr>
              <a:spcBef>
                <a:spcPts val="1000"/>
              </a:spcBef>
              <a:defRPr sz="1100">
                <a:solidFill>
                  <a:srgbClr val="94A3B8"/>
                </a:solidFill>
                <a:latin typeface="Arial"/>
              </a:defRPr>
            </a:pPr>
            <a:r>
              <a:t>Average deal duration reduced from 35 days to 18 days (documented at JW Marriott Houston Downtown).</a:t>
            </a:r>
          </a:p>
        </p:txBody>
      </p:sp>
      <p:sp>
        <p:nvSpPr>
          <p:cNvPr id="10" name="Rounded Rectangle 9"/>
          <p:cNvSpPr/>
          <p:nvPr/>
        </p:nvSpPr>
        <p:spPr>
          <a:xfrm>
            <a:off x="8933688" y="1691640"/>
            <a:ext cx="2514600" cy="338328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16568" y="1920240"/>
            <a:ext cx="2148840" cy="2926080"/>
          </a:xfrm>
          <a:prstGeom prst="rect">
            <a:avLst/>
          </a:prstGeom>
          <a:noFill/>
        </p:spPr>
        <p:txBody>
          <a:bodyPr wrap="square">
            <a:spAutoFit/>
          </a:bodyPr>
          <a:lstStyle/>
          <a:p>
            <a:pPr>
              <a:defRPr sz="3600" b="1">
                <a:solidFill>
                  <a:srgbClr val="10B981"/>
                </a:solidFill>
                <a:latin typeface="Arial"/>
              </a:defRPr>
            </a:pPr>
            <a:r>
              <a:t>400+ hrs</a:t>
            </a:r>
          </a:p>
          <a:p>
            <a:pPr>
              <a:spcBef>
                <a:spcPts val="600"/>
              </a:spcBef>
              <a:defRPr sz="1400" b="1">
                <a:solidFill>
                  <a:srgbClr val="FFFFFF"/>
                </a:solidFill>
                <a:latin typeface="Arial"/>
              </a:defRPr>
            </a:pPr>
            <a:r>
              <a:t>Saved / Seller / Year</a:t>
            </a:r>
          </a:p>
          <a:p>
            <a:pPr>
              <a:spcBef>
                <a:spcPts val="1000"/>
              </a:spcBef>
              <a:defRPr sz="1100">
                <a:solidFill>
                  <a:srgbClr val="94A3B8"/>
                </a:solidFill>
                <a:latin typeface="Arial"/>
              </a:defRPr>
            </a:pPr>
            <a:r>
              <a:t>Time reclaimed from manual walkthrough logistics, repurposed into high-intent outbound prospecting.</a:t>
            </a:r>
          </a:p>
        </p:txBody>
      </p:sp>
      <p:sp>
        <p:nvSpPr>
          <p:cNvPr id="12" name="Rounded Rectangle 11"/>
          <p:cNvSpPr/>
          <p:nvPr/>
        </p:nvSpPr>
        <p:spPr>
          <a:xfrm>
            <a:off x="731520" y="5303520"/>
            <a:ext cx="10728655" cy="914400"/>
          </a:xfrm>
          <a:prstGeom prst="roundRect">
            <a:avLst/>
          </a:prstGeom>
          <a:solidFill>
            <a:srgbClr val="102440"/>
          </a:solidFill>
          <a:ln w="12700">
            <a:solidFill>
              <a:srgbClr val="00A6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440680"/>
            <a:ext cx="10149840" cy="640080"/>
          </a:xfrm>
          <a:prstGeom prst="rect">
            <a:avLst/>
          </a:prstGeom>
          <a:noFill/>
        </p:spPr>
        <p:txBody>
          <a:bodyPr wrap="square">
            <a:spAutoFit/>
          </a:bodyPr>
          <a:lstStyle/>
          <a:p>
            <a:pPr>
              <a:defRPr sz="1500" b="1">
                <a:solidFill>
                  <a:srgbClr val="FFFFFF"/>
                </a:solidFill>
                <a:latin typeface="Arial"/>
              </a:defRPr>
            </a:pPr>
            <a:r>
              <a:t>+130% Higher Booking Intent Among Event &amp; Meeting Planners</a:t>
            </a:r>
          </a:p>
          <a:p>
            <a:pPr>
              <a:spcBef>
                <a:spcPts val="200"/>
              </a:spcBef>
              <a:defRPr sz="1100">
                <a:solidFill>
                  <a:srgbClr val="CBD5E1"/>
                </a:solidFill>
                <a:latin typeface="Arial"/>
              </a:defRPr>
            </a:pPr>
            <a:r>
              <a:t>Independent industry studies confirm planners are more than twice as likely to submit an RFP and execute contracts when able to inspect complete spatial configurations remotely.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97280"/>
          </a:xfrm>
          <a:prstGeom prst="rect">
            <a:avLst/>
          </a:prstGeom>
          <a:noFill/>
        </p:spPr>
        <p:txBody>
          <a:bodyPr wrap="square" lIns="0" tIns="0" rIns="0" bIns="0">
            <a:spAutoFit/>
          </a:bodyPr>
          <a:lstStyle/>
          <a:p>
            <a:pPr>
              <a:defRPr sz="1100" b="1">
                <a:solidFill>
                  <a:srgbClr val="38BDF8"/>
                </a:solidFill>
                <a:latin typeface="Arial"/>
              </a:defRPr>
            </a:pPr>
            <a:r>
              <a:t>QUANTITATIVE FINANCIAL MODEL</a:t>
            </a:r>
          </a:p>
          <a:p>
            <a:pPr>
              <a:spcBef>
                <a:spcPts val="300"/>
              </a:spcBef>
              <a:defRPr sz="2400" b="1">
                <a:solidFill>
                  <a:srgbClr val="FFFFFF"/>
                </a:solidFill>
                <a:latin typeface="Arial"/>
              </a:defRPr>
            </a:pPr>
            <a:r>
              <a:t>Portfolio ROI &amp; Value Creation Engine</a:t>
            </a:r>
          </a:p>
          <a:p>
            <a:pPr>
              <a:spcBef>
                <a:spcPts val="300"/>
              </a:spcBef>
              <a:defRPr sz="1200">
                <a:solidFill>
                  <a:srgbClr val="94A3B8"/>
                </a:solidFill>
                <a:latin typeface="Arial"/>
              </a:defRPr>
            </a:pPr>
            <a:r>
              <a:t>Mathematical framework derived from Visiting Media's proprietary engineering coefficients</a:t>
            </a:r>
          </a:p>
        </p:txBody>
      </p:sp>
      <p:sp>
        <p:nvSpPr>
          <p:cNvPr id="4" name="Rounded Rectangle 3"/>
          <p:cNvSpPr/>
          <p:nvPr/>
        </p:nvSpPr>
        <p:spPr>
          <a:xfrm>
            <a:off x="731520" y="1691640"/>
            <a:ext cx="384048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3383280" cy="4114800"/>
          </a:xfrm>
          <a:prstGeom prst="rect">
            <a:avLst/>
          </a:prstGeom>
          <a:noFill/>
        </p:spPr>
        <p:txBody>
          <a:bodyPr wrap="square">
            <a:spAutoFit/>
          </a:bodyPr>
          <a:lstStyle/>
          <a:p>
            <a:pPr>
              <a:defRPr sz="1300" b="1">
                <a:solidFill>
                  <a:srgbClr val="38BDF8"/>
                </a:solidFill>
                <a:latin typeface="Arial"/>
              </a:defRPr>
            </a:pPr>
            <a:r>
              <a:t>PORTFOLIO MODEL INPUTS</a:t>
            </a:r>
          </a:p>
          <a:p>
            <a:pPr>
              <a:spcBef>
                <a:spcPts val="600"/>
              </a:spcBef>
              <a:defRPr sz="1200" b="1">
                <a:solidFill>
                  <a:srgbClr val="FFFFFF"/>
                </a:solidFill>
                <a:latin typeface="Arial"/>
              </a:defRPr>
            </a:pPr>
            <a:r>
              <a:t>Baseline Assumptions (10 Properties):</a:t>
            </a:r>
          </a:p>
          <a:p>
            <a:pPr>
              <a:spcBef>
                <a:spcPts val="400"/>
              </a:spcBef>
              <a:defRPr sz="1050">
                <a:solidFill>
                  <a:srgbClr val="94A3B8"/>
                </a:solidFill>
                <a:latin typeface="Arial"/>
              </a:defRPr>
            </a:pPr>
            <a:r>
              <a:t>• Number of Properties: </a:t>
            </a:r>
            <a:r>
              <a:rPr b="1">
                <a:solidFill>
                  <a:srgbClr val="FFFFFF"/>
                </a:solidFill>
              </a:rPr>
              <a:t>10 Assets</a:t>
            </a:r>
          </a:p>
          <a:p>
            <a:pPr>
              <a:spcBef>
                <a:spcPts val="400"/>
              </a:spcBef>
              <a:defRPr sz="1050">
                <a:solidFill>
                  <a:srgbClr val="94A3B8"/>
                </a:solidFill>
                <a:latin typeface="Arial"/>
              </a:defRPr>
            </a:pPr>
            <a:r>
              <a:t>• Group Revenue / Prop: </a:t>
            </a:r>
            <a:r>
              <a:rPr b="1">
                <a:solidFill>
                  <a:srgbClr val="FFFFFF"/>
                </a:solidFill>
              </a:rPr>
              <a:t>$2,000,000 / year</a:t>
            </a:r>
          </a:p>
          <a:p>
            <a:pPr>
              <a:spcBef>
                <a:spcPts val="400"/>
              </a:spcBef>
              <a:defRPr sz="1050">
                <a:solidFill>
                  <a:srgbClr val="94A3B8"/>
                </a:solidFill>
                <a:latin typeface="Arial"/>
              </a:defRPr>
            </a:pPr>
            <a:r>
              <a:t>• Total Group Pipeline: </a:t>
            </a:r>
            <a:r>
              <a:rPr b="1">
                <a:solidFill>
                  <a:srgbClr val="FFFFFF"/>
                </a:solidFill>
              </a:rPr>
              <a:t>$20,000,000 / year</a:t>
            </a:r>
          </a:p>
          <a:p>
            <a:pPr>
              <a:spcBef>
                <a:spcPts val="400"/>
              </a:spcBef>
              <a:defRPr sz="1050">
                <a:solidFill>
                  <a:srgbClr val="94A3B8"/>
                </a:solidFill>
                <a:latin typeface="Arial"/>
              </a:defRPr>
            </a:pPr>
            <a:r>
              <a:t>• Platform Spend / Prop: </a:t>
            </a:r>
            <a:r>
              <a:rPr b="1">
                <a:solidFill>
                  <a:srgbClr val="FFFFFF"/>
                </a:solidFill>
              </a:rPr>
              <a:t>$25,000 / year</a:t>
            </a:r>
          </a:p>
          <a:p>
            <a:pPr>
              <a:spcBef>
                <a:spcPts val="400"/>
              </a:spcBef>
              <a:defRPr sz="1050">
                <a:solidFill>
                  <a:srgbClr val="94A3B8"/>
                </a:solidFill>
                <a:latin typeface="Arial"/>
              </a:defRPr>
            </a:pPr>
            <a:r>
              <a:t>• Total Investment: </a:t>
            </a:r>
            <a:r>
              <a:rPr b="1">
                <a:solidFill>
                  <a:srgbClr val="FFFFFF"/>
                </a:solidFill>
              </a:rPr>
              <a:t>$250,000 total</a:t>
            </a:r>
          </a:p>
          <a:p>
            <a:pPr>
              <a:spcBef>
                <a:spcPts val="400"/>
              </a:spcBef>
              <a:defRPr sz="1050">
                <a:solidFill>
                  <a:srgbClr val="94A3B8"/>
                </a:solidFill>
                <a:latin typeface="Arial"/>
              </a:defRPr>
            </a:pPr>
            <a:r>
              <a:t>• Group Conversion Lift: </a:t>
            </a:r>
            <a:r>
              <a:rPr b="1">
                <a:solidFill>
                  <a:srgbClr val="FFFFFF"/>
                </a:solidFill>
              </a:rPr>
              <a:t>3.0% (Conservative benchmark)</a:t>
            </a:r>
          </a:p>
          <a:p>
            <a:pPr>
              <a:spcBef>
                <a:spcPts val="400"/>
              </a:spcBef>
              <a:defRPr sz="1050">
                <a:solidFill>
                  <a:srgbClr val="94A3B8"/>
                </a:solidFill>
                <a:latin typeface="Arial"/>
              </a:defRPr>
            </a:pPr>
            <a:r>
              <a:t>• Time Saved / Property: </a:t>
            </a:r>
            <a:r>
              <a:rPr b="1">
                <a:solidFill>
                  <a:srgbClr val="FFFFFF"/>
                </a:solidFill>
              </a:rPr>
              <a:t>240 hours / year</a:t>
            </a:r>
          </a:p>
          <a:p>
            <a:pPr>
              <a:spcBef>
                <a:spcPts val="400"/>
              </a:spcBef>
              <a:defRPr sz="1050">
                <a:solidFill>
                  <a:srgbClr val="94A3B8"/>
                </a:solidFill>
                <a:latin typeface="Arial"/>
              </a:defRPr>
            </a:pPr>
            <a:r>
              <a:t>• Blended Rep Cost Basis: </a:t>
            </a:r>
            <a:r>
              <a:rPr b="1">
                <a:solidFill>
                  <a:srgbClr val="FFFFFF"/>
                </a:solidFill>
              </a:rPr>
              <a:t>$45 / hour fully burdened</a:t>
            </a:r>
          </a:p>
        </p:txBody>
      </p:sp>
      <p:sp>
        <p:nvSpPr>
          <p:cNvPr id="6" name="Rounded Rectangle 5"/>
          <p:cNvSpPr/>
          <p:nvPr/>
        </p:nvSpPr>
        <p:spPr>
          <a:xfrm>
            <a:off x="4846320" y="1691640"/>
            <a:ext cx="6613855" cy="4572000"/>
          </a:xfrm>
          <a:prstGeom prst="roundRect">
            <a:avLst/>
          </a:prstGeom>
          <a:solidFill>
            <a:srgbClr val="101A36"/>
          </a:solidFill>
          <a:ln w="12700">
            <a:solidFill>
              <a:srgbClr val="00A6F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0" y="1874519"/>
            <a:ext cx="6035040" cy="4114800"/>
          </a:xfrm>
          <a:prstGeom prst="rect">
            <a:avLst/>
          </a:prstGeom>
          <a:noFill/>
        </p:spPr>
        <p:txBody>
          <a:bodyPr wrap="square">
            <a:spAutoFit/>
          </a:bodyPr>
          <a:lstStyle/>
          <a:p>
            <a:pPr>
              <a:defRPr sz="1300" b="1">
                <a:solidFill>
                  <a:srgbClr val="10B981"/>
                </a:solidFill>
                <a:latin typeface="Arial"/>
              </a:defRPr>
            </a:pPr>
            <a:r>
              <a:t>PROJECTED VALUE CREATION BREAKDOWN</a:t>
            </a:r>
          </a:p>
          <a:p>
            <a:pPr>
              <a:spcBef>
                <a:spcPts val="1000"/>
              </a:spcBef>
              <a:defRPr sz="1200" b="1">
                <a:solidFill>
                  <a:srgbClr val="FFFFFF"/>
                </a:solidFill>
                <a:latin typeface="Arial"/>
              </a:defRPr>
            </a:pPr>
            <a:r>
              <a:t>Projected ROI Multiplier: </a:t>
            </a:r>
            <a:r>
              <a:rPr b="1">
                <a:solidFill>
                  <a:srgbClr val="10B981"/>
                </a:solidFill>
              </a:rPr>
              <a:t>2.4× to 2.8×</a:t>
            </a:r>
          </a:p>
          <a:p>
            <a:pPr>
              <a:spcBef>
                <a:spcPts val="100"/>
              </a:spcBef>
              <a:defRPr sz="1000">
                <a:solidFill>
                  <a:srgbClr val="94A3B8"/>
                </a:solidFill>
                <a:latin typeface="Arial"/>
              </a:defRPr>
            </a:pPr>
            <a:r>
              <a:t>Direct top-line revenue expansion relative to total platform expenditure.</a:t>
            </a:r>
          </a:p>
          <a:p>
            <a:pPr>
              <a:spcBef>
                <a:spcPts val="1000"/>
              </a:spcBef>
              <a:defRPr sz="1200" b="1">
                <a:solidFill>
                  <a:srgbClr val="FFFFFF"/>
                </a:solidFill>
                <a:latin typeface="Arial"/>
              </a:defRPr>
            </a:pPr>
            <a:r>
              <a:t>Annual Group Revenue Uplift: </a:t>
            </a:r>
            <a:r>
              <a:rPr b="1">
                <a:solidFill>
                  <a:srgbClr val="10B981"/>
                </a:solidFill>
              </a:rPr>
              <a:t>$600,000</a:t>
            </a:r>
          </a:p>
          <a:p>
            <a:pPr>
              <a:spcBef>
                <a:spcPts val="100"/>
              </a:spcBef>
              <a:defRPr sz="1000">
                <a:solidFill>
                  <a:srgbClr val="94A3B8"/>
                </a:solidFill>
                <a:latin typeface="Arial"/>
              </a:defRPr>
            </a:pPr>
            <a:r>
              <a:t>$20M baseline × conservative 3.0% conversion uplift from faster closing.</a:t>
            </a:r>
          </a:p>
          <a:p>
            <a:pPr>
              <a:spcBef>
                <a:spcPts val="1000"/>
              </a:spcBef>
              <a:defRPr sz="1200" b="1">
                <a:solidFill>
                  <a:srgbClr val="FFFFFF"/>
                </a:solidFill>
                <a:latin typeface="Arial"/>
              </a:defRPr>
            </a:pPr>
            <a:r>
              <a:t>Sales Capacity Unlocked: </a:t>
            </a:r>
            <a:r>
              <a:rPr b="1">
                <a:solidFill>
                  <a:srgbClr val="10B981"/>
                </a:solidFill>
              </a:rPr>
              <a:t>2,400 hrs ($108,000)</a:t>
            </a:r>
          </a:p>
          <a:p>
            <a:pPr>
              <a:spcBef>
                <a:spcPts val="100"/>
              </a:spcBef>
              <a:defRPr sz="1000">
                <a:solidFill>
                  <a:srgbClr val="94A3B8"/>
                </a:solidFill>
                <a:latin typeface="Arial"/>
              </a:defRPr>
            </a:pPr>
            <a:r>
              <a:t>240 hours saved per property across RFP drafting and spatial walk-throughs.</a:t>
            </a:r>
          </a:p>
          <a:p>
            <a:pPr>
              <a:spcBef>
                <a:spcPts val="1000"/>
              </a:spcBef>
              <a:defRPr sz="1200" b="1">
                <a:solidFill>
                  <a:srgbClr val="FFFFFF"/>
                </a:solidFill>
                <a:latin typeface="Arial"/>
              </a:defRPr>
            </a:pPr>
            <a:r>
              <a:t>Net Financial Value Created: </a:t>
            </a:r>
            <a:r>
              <a:rPr b="1">
                <a:solidFill>
                  <a:srgbClr val="10B981"/>
                </a:solidFill>
              </a:rPr>
              <a:t>$458,000</a:t>
            </a:r>
          </a:p>
          <a:p>
            <a:pPr>
              <a:spcBef>
                <a:spcPts val="100"/>
              </a:spcBef>
              <a:defRPr sz="1000">
                <a:solidFill>
                  <a:srgbClr val="94A3B8"/>
                </a:solidFill>
                <a:latin typeface="Arial"/>
              </a:defRPr>
            </a:pPr>
            <a:r>
              <a:t>Total economic gain (Revenue Uplift + Labor Reclaimed - Total Spend).</a:t>
            </a:r>
          </a:p>
          <a:p>
            <a:pPr>
              <a:spcBef>
                <a:spcPts val="1000"/>
              </a:spcBef>
              <a:defRPr sz="1200" b="1">
                <a:solidFill>
                  <a:srgbClr val="FFFFFF"/>
                </a:solidFill>
                <a:latin typeface="Arial"/>
              </a:defRPr>
            </a:pPr>
            <a:r>
              <a:t>Estimated Payback Timeline: </a:t>
            </a:r>
            <a:r>
              <a:rPr b="1">
                <a:solidFill>
                  <a:srgbClr val="10B981"/>
                </a:solidFill>
              </a:rPr>
              <a:t>&lt; 5 Months</a:t>
            </a:r>
          </a:p>
          <a:p>
            <a:pPr>
              <a:spcBef>
                <a:spcPts val="100"/>
              </a:spcBef>
              <a:defRPr sz="1000">
                <a:solidFill>
                  <a:srgbClr val="94A3B8"/>
                </a:solidFill>
                <a:latin typeface="Arial"/>
              </a:defRPr>
            </a:pPr>
            <a:r>
              <a:t>Full capital payback achieved well before mid-year based on contract velocity.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97280"/>
          </a:xfrm>
          <a:prstGeom prst="rect">
            <a:avLst/>
          </a:prstGeom>
          <a:noFill/>
        </p:spPr>
        <p:txBody>
          <a:bodyPr wrap="square" lIns="0" tIns="0" rIns="0" bIns="0">
            <a:spAutoFit/>
          </a:bodyPr>
          <a:lstStyle/>
          <a:p>
            <a:pPr>
              <a:defRPr sz="1100" b="1">
                <a:solidFill>
                  <a:srgbClr val="38BDF8"/>
                </a:solidFill>
                <a:latin typeface="Arial"/>
              </a:defRPr>
            </a:pPr>
            <a:r>
              <a:t>EMPIRICAL CUSTOMER PROOF</a:t>
            </a:r>
          </a:p>
          <a:p>
            <a:pPr>
              <a:spcBef>
                <a:spcPts val="300"/>
              </a:spcBef>
              <a:defRPr sz="2400" b="1">
                <a:solidFill>
                  <a:srgbClr val="FFFFFF"/>
                </a:solidFill>
                <a:latin typeface="Arial"/>
              </a:defRPr>
            </a:pPr>
            <a:r>
              <a:t>Verified Outcomes: Closing Velocity &amp; Win Rate</a:t>
            </a:r>
          </a:p>
          <a:p>
            <a:pPr>
              <a:spcBef>
                <a:spcPts val="300"/>
              </a:spcBef>
              <a:defRPr sz="1200">
                <a:solidFill>
                  <a:srgbClr val="94A3B8"/>
                </a:solidFill>
                <a:latin typeface="Arial"/>
              </a:defRPr>
            </a:pPr>
            <a:r>
              <a:t>Documented operational case studies from Visiting Media's customer portfolio</a:t>
            </a:r>
          </a:p>
        </p:txBody>
      </p:sp>
      <p:sp>
        <p:nvSpPr>
          <p:cNvPr id="4" name="Rounded Rectangle 3"/>
          <p:cNvSpPr/>
          <p:nvPr/>
        </p:nvSpPr>
        <p:spPr>
          <a:xfrm>
            <a:off x="731520" y="1691640"/>
            <a:ext cx="342900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4297680"/>
          </a:xfrm>
          <a:prstGeom prst="rect">
            <a:avLst/>
          </a:prstGeom>
          <a:noFill/>
        </p:spPr>
        <p:txBody>
          <a:bodyPr wrap="square">
            <a:spAutoFit/>
          </a:bodyPr>
          <a:lstStyle/>
          <a:p>
            <a:pPr>
              <a:defRPr sz="1000" b="1">
                <a:solidFill>
                  <a:srgbClr val="10B981"/>
                </a:solidFill>
                <a:latin typeface="Arial"/>
              </a:defRPr>
            </a:pPr>
            <a:r>
              <a:t>48% FASTER CLOSE</a:t>
            </a:r>
          </a:p>
          <a:p>
            <a:pPr>
              <a:spcBef>
                <a:spcPts val="300"/>
              </a:spcBef>
              <a:defRPr sz="1300" b="1">
                <a:solidFill>
                  <a:srgbClr val="FFFFFF"/>
                </a:solidFill>
                <a:latin typeface="Arial"/>
              </a:defRPr>
            </a:pPr>
            <a:r>
              <a:t>JW Marriott Houston Downtown</a:t>
            </a:r>
          </a:p>
          <a:p>
            <a:pPr>
              <a:spcBef>
                <a:spcPts val="100"/>
              </a:spcBef>
              <a:defRPr sz="1000">
                <a:solidFill>
                  <a:srgbClr val="38BDF8"/>
                </a:solidFill>
                <a:latin typeface="Arial"/>
              </a:defRPr>
            </a:pPr>
            <a:r>
              <a:t>Marriott Luxury Brand</a:t>
            </a:r>
          </a:p>
          <a:p>
            <a:pPr>
              <a:spcBef>
                <a:spcPts val="800"/>
              </a:spcBef>
              <a:defRPr sz="950" i="1">
                <a:solidFill>
                  <a:srgbClr val="CBD5E1"/>
                </a:solidFill>
                <a:latin typeface="Arial"/>
              </a:defRPr>
            </a:pPr>
            <a:r>
              <a:t>"Sales cycle is reduced from 20-35 days to now just 18 days with the use of the tool. We don’t have to worry about working around people’s schedules or if a room is out of order... we can walk them through and it’s just as good as them being present."</a:t>
            </a:r>
          </a:p>
          <a:p>
            <a:pPr>
              <a:spcBef>
                <a:spcPts val="400"/>
              </a:spcBef>
              <a:defRPr sz="900" b="1">
                <a:solidFill>
                  <a:srgbClr val="94A3B8"/>
                </a:solidFill>
                <a:latin typeface="Arial"/>
              </a:defRPr>
            </a:pPr>
            <a:r>
              <a:t>— Director of Sales &amp; Marketing</a:t>
            </a:r>
          </a:p>
          <a:p>
            <a:pPr>
              <a:spcBef>
                <a:spcPts val="400"/>
              </a:spcBef>
              <a:defRPr sz="900" b="1">
                <a:solidFill>
                  <a:srgbClr val="38BDF8"/>
                </a:solidFill>
                <a:latin typeface="Arial"/>
              </a:defRPr>
            </a:pPr>
            <a:r>
              <a:t>• 18 Days: </a:t>
            </a:r>
            <a:r>
              <a:rPr b="0">
                <a:solidFill>
                  <a:srgbClr val="94A3B8"/>
                </a:solidFill>
              </a:rPr>
              <a:t>Compressed cycle from 35 days</a:t>
            </a:r>
          </a:p>
          <a:p>
            <a:pPr>
              <a:spcBef>
                <a:spcPts val="400"/>
              </a:spcBef>
              <a:defRPr sz="900" b="1">
                <a:solidFill>
                  <a:srgbClr val="38BDF8"/>
                </a:solidFill>
                <a:latin typeface="Arial"/>
              </a:defRPr>
            </a:pPr>
            <a:r>
              <a:t>• Rapid Rebound: </a:t>
            </a:r>
            <a:r>
              <a:rPr b="0">
                <a:solidFill>
                  <a:srgbClr val="94A3B8"/>
                </a:solidFill>
              </a:rPr>
              <a:t>Fastest pandemic recovery in comp set</a:t>
            </a:r>
          </a:p>
          <a:p>
            <a:pPr>
              <a:spcBef>
                <a:spcPts val="400"/>
              </a:spcBef>
              <a:defRPr sz="900" b="1">
                <a:solidFill>
                  <a:srgbClr val="38BDF8"/>
                </a:solidFill>
                <a:latin typeface="Arial"/>
              </a:defRPr>
            </a:pPr>
            <a:r>
              <a:t>• Zero Disruption: </a:t>
            </a:r>
            <a:r>
              <a:rPr b="0">
                <a:solidFill>
                  <a:srgbClr val="94A3B8"/>
                </a:solidFill>
              </a:rPr>
              <a:t>Sells suites while occupied by guests</a:t>
            </a:r>
          </a:p>
        </p:txBody>
      </p:sp>
      <p:sp>
        <p:nvSpPr>
          <p:cNvPr id="6" name="Rounded Rectangle 5"/>
          <p:cNvSpPr/>
          <p:nvPr/>
        </p:nvSpPr>
        <p:spPr>
          <a:xfrm>
            <a:off x="4379976" y="1691640"/>
            <a:ext cx="342900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828800"/>
            <a:ext cx="3063240" cy="4297680"/>
          </a:xfrm>
          <a:prstGeom prst="rect">
            <a:avLst/>
          </a:prstGeom>
          <a:noFill/>
        </p:spPr>
        <p:txBody>
          <a:bodyPr wrap="square">
            <a:spAutoFit/>
          </a:bodyPr>
          <a:lstStyle/>
          <a:p>
            <a:pPr>
              <a:defRPr sz="1000" b="1">
                <a:solidFill>
                  <a:srgbClr val="10B981"/>
                </a:solidFill>
                <a:latin typeface="Arial"/>
              </a:defRPr>
            </a:pPr>
            <a:r>
              <a:t>+20% CLOSE RATE LIFT</a:t>
            </a:r>
          </a:p>
          <a:p>
            <a:pPr>
              <a:spcBef>
                <a:spcPts val="300"/>
              </a:spcBef>
              <a:defRPr sz="1300" b="1">
                <a:solidFill>
                  <a:srgbClr val="FFFFFF"/>
                </a:solidFill>
                <a:latin typeface="Arial"/>
              </a:defRPr>
            </a:pPr>
            <a:r>
              <a:t>DoubleTree by Hilton Cedar Rapids</a:t>
            </a:r>
          </a:p>
          <a:p>
            <a:pPr>
              <a:spcBef>
                <a:spcPts val="100"/>
              </a:spcBef>
              <a:defRPr sz="1000">
                <a:solidFill>
                  <a:srgbClr val="38BDF8"/>
                </a:solidFill>
                <a:latin typeface="Arial"/>
              </a:defRPr>
            </a:pPr>
            <a:r>
              <a:t>Hilton Full Service</a:t>
            </a:r>
          </a:p>
          <a:p>
            <a:pPr>
              <a:spcBef>
                <a:spcPts val="800"/>
              </a:spcBef>
              <a:defRPr sz="950" i="1">
                <a:solidFill>
                  <a:srgbClr val="CBD5E1"/>
                </a:solidFill>
                <a:latin typeface="Arial"/>
              </a:defRPr>
            </a:pPr>
            <a:r>
              <a:t>"This year we’ve seen about a 20% increase in closing rate… we’re up to about 43% which is pretty good, especially compared to Hilton’s average closing rate. Because of that tour, they brought a team here and we closed the client—approximately $170,000 for a need month."</a:t>
            </a:r>
          </a:p>
          <a:p>
            <a:pPr>
              <a:spcBef>
                <a:spcPts val="400"/>
              </a:spcBef>
              <a:defRPr sz="900" b="1">
                <a:solidFill>
                  <a:srgbClr val="94A3B8"/>
                </a:solidFill>
                <a:latin typeface="Arial"/>
              </a:defRPr>
            </a:pPr>
            <a:r>
              <a:t>— Director of Sales &amp; Marketing</a:t>
            </a:r>
          </a:p>
          <a:p>
            <a:pPr>
              <a:spcBef>
                <a:spcPts val="400"/>
              </a:spcBef>
              <a:defRPr sz="900" b="1">
                <a:solidFill>
                  <a:srgbClr val="38BDF8"/>
                </a:solidFill>
                <a:latin typeface="Arial"/>
              </a:defRPr>
            </a:pPr>
            <a:r>
              <a:t>• 43% Close Rate: </a:t>
            </a:r>
            <a:r>
              <a:rPr b="0">
                <a:solidFill>
                  <a:srgbClr val="94A3B8"/>
                </a:solidFill>
              </a:rPr>
              <a:t>Significantly outpaces regional average</a:t>
            </a:r>
          </a:p>
          <a:p>
            <a:pPr>
              <a:spcBef>
                <a:spcPts val="400"/>
              </a:spcBef>
              <a:defRPr sz="900" b="1">
                <a:solidFill>
                  <a:srgbClr val="38BDF8"/>
                </a:solidFill>
                <a:latin typeface="Arial"/>
              </a:defRPr>
            </a:pPr>
            <a:r>
              <a:t>• $170,000 Win: </a:t>
            </a:r>
            <a:r>
              <a:rPr b="0">
                <a:solidFill>
                  <a:srgbClr val="94A3B8"/>
                </a:solidFill>
              </a:rPr>
              <a:t>Single contract secured for need month</a:t>
            </a:r>
          </a:p>
          <a:p>
            <a:pPr>
              <a:spcBef>
                <a:spcPts val="400"/>
              </a:spcBef>
              <a:defRPr sz="900" b="1">
                <a:solidFill>
                  <a:srgbClr val="38BDF8"/>
                </a:solidFill>
                <a:latin typeface="Arial"/>
              </a:defRPr>
            </a:pPr>
            <a:r>
              <a:t>• Targeted Links: </a:t>
            </a:r>
            <a:r>
              <a:rPr b="0">
                <a:solidFill>
                  <a:srgbClr val="94A3B8"/>
                </a:solidFill>
              </a:rPr>
              <a:t>Sent custom floor plans vs generic links</a:t>
            </a:r>
          </a:p>
        </p:txBody>
      </p:sp>
      <p:sp>
        <p:nvSpPr>
          <p:cNvPr id="8" name="Rounded Rectangle 7"/>
          <p:cNvSpPr/>
          <p:nvPr/>
        </p:nvSpPr>
        <p:spPr>
          <a:xfrm>
            <a:off x="8028432" y="1691640"/>
            <a:ext cx="342900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828800"/>
            <a:ext cx="3063240" cy="4297680"/>
          </a:xfrm>
          <a:prstGeom prst="rect">
            <a:avLst/>
          </a:prstGeom>
          <a:noFill/>
        </p:spPr>
        <p:txBody>
          <a:bodyPr wrap="square">
            <a:spAutoFit/>
          </a:bodyPr>
          <a:lstStyle/>
          <a:p>
            <a:pPr>
              <a:defRPr sz="1000" b="1">
                <a:solidFill>
                  <a:srgbClr val="10B981"/>
                </a:solidFill>
                <a:latin typeface="Arial"/>
              </a:defRPr>
            </a:pPr>
            <a:r>
              <a:t>2.5-WEEK BUYOUT</a:t>
            </a:r>
          </a:p>
          <a:p>
            <a:pPr>
              <a:spcBef>
                <a:spcPts val="300"/>
              </a:spcBef>
              <a:defRPr sz="1300" b="1">
                <a:solidFill>
                  <a:srgbClr val="FFFFFF"/>
                </a:solidFill>
                <a:latin typeface="Arial"/>
              </a:defRPr>
            </a:pPr>
            <a:r>
              <a:t>Pacific Palms Resort</a:t>
            </a:r>
          </a:p>
          <a:p>
            <a:pPr>
              <a:spcBef>
                <a:spcPts val="100"/>
              </a:spcBef>
              <a:defRPr sz="1000">
                <a:solidFill>
                  <a:srgbClr val="38BDF8"/>
                </a:solidFill>
                <a:latin typeface="Arial"/>
              </a:defRPr>
            </a:pPr>
            <a:r>
              <a:t>Independent Luxury Resort</a:t>
            </a:r>
          </a:p>
          <a:p>
            <a:pPr>
              <a:spcBef>
                <a:spcPts val="800"/>
              </a:spcBef>
              <a:defRPr sz="950" i="1">
                <a:solidFill>
                  <a:srgbClr val="CBD5E1"/>
                </a:solidFill>
                <a:latin typeface="Arial"/>
              </a:defRPr>
            </a:pPr>
            <a:r>
              <a:t>"We had been working on a complete property buyout for over two years without closing. Once we walked the executive committee through the interactive 3D layout, they signed the agreement within two and a half weeks."</a:t>
            </a:r>
          </a:p>
          <a:p>
            <a:pPr>
              <a:spcBef>
                <a:spcPts val="400"/>
              </a:spcBef>
              <a:defRPr sz="900" b="1">
                <a:solidFill>
                  <a:srgbClr val="94A3B8"/>
                </a:solidFill>
                <a:latin typeface="Arial"/>
              </a:defRPr>
            </a:pPr>
            <a:r>
              <a:t>— Vice President of Sales</a:t>
            </a:r>
          </a:p>
          <a:p>
            <a:pPr>
              <a:spcBef>
                <a:spcPts val="400"/>
              </a:spcBef>
              <a:defRPr sz="900" b="1">
                <a:solidFill>
                  <a:srgbClr val="38BDF8"/>
                </a:solidFill>
                <a:latin typeface="Arial"/>
              </a:defRPr>
            </a:pPr>
            <a:r>
              <a:t>• 2.5 Weeks: </a:t>
            </a:r>
            <a:r>
              <a:rPr b="0">
                <a:solidFill>
                  <a:srgbClr val="94A3B8"/>
                </a:solidFill>
              </a:rPr>
              <a:t>Closed buyout stalled for 2+ years</a:t>
            </a:r>
          </a:p>
          <a:p>
            <a:pPr>
              <a:spcBef>
                <a:spcPts val="400"/>
              </a:spcBef>
              <a:defRPr sz="900" b="1">
                <a:solidFill>
                  <a:srgbClr val="38BDF8"/>
                </a:solidFill>
                <a:latin typeface="Arial"/>
              </a:defRPr>
            </a:pPr>
            <a:r>
              <a:t>• Outdoor Clarity: </a:t>
            </a:r>
            <a:r>
              <a:rPr b="0">
                <a:solidFill>
                  <a:srgbClr val="94A3B8"/>
                </a:solidFill>
              </a:rPr>
              <a:t>Eliminated lawn &amp; pavilion setup doubts</a:t>
            </a:r>
          </a:p>
          <a:p>
            <a:pPr>
              <a:spcBef>
                <a:spcPts val="400"/>
              </a:spcBef>
              <a:defRPr sz="900" b="1">
                <a:solidFill>
                  <a:srgbClr val="38BDF8"/>
                </a:solidFill>
                <a:latin typeface="Arial"/>
              </a:defRPr>
            </a:pPr>
            <a:r>
              <a:t>• Committee Buy-In: </a:t>
            </a:r>
            <a:r>
              <a:rPr b="0">
                <a:solidFill>
                  <a:srgbClr val="94A3B8"/>
                </a:solidFill>
              </a:rPr>
              <a:t>Executive committee aligned in 1 call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97280"/>
          </a:xfrm>
          <a:prstGeom prst="rect">
            <a:avLst/>
          </a:prstGeom>
          <a:noFill/>
        </p:spPr>
        <p:txBody>
          <a:bodyPr wrap="square" lIns="0" tIns="0" rIns="0" bIns="0">
            <a:spAutoFit/>
          </a:bodyPr>
          <a:lstStyle/>
          <a:p>
            <a:pPr>
              <a:defRPr sz="1100" b="1">
                <a:solidFill>
                  <a:srgbClr val="38BDF8"/>
                </a:solidFill>
                <a:latin typeface="Arial"/>
              </a:defRPr>
            </a:pPr>
            <a:r>
              <a:t>EMPIRICAL CUSTOMER PROOF</a:t>
            </a:r>
          </a:p>
          <a:p>
            <a:pPr>
              <a:spcBef>
                <a:spcPts val="300"/>
              </a:spcBef>
              <a:defRPr sz="2400" b="1">
                <a:solidFill>
                  <a:srgbClr val="FFFFFF"/>
                </a:solidFill>
                <a:latin typeface="Arial"/>
              </a:defRPr>
            </a:pPr>
            <a:r>
              <a:t>Verified Outcomes: Enterprise Scale &amp; High-Value Deals</a:t>
            </a:r>
          </a:p>
          <a:p>
            <a:pPr>
              <a:spcBef>
                <a:spcPts val="300"/>
              </a:spcBef>
              <a:defRPr sz="1200">
                <a:solidFill>
                  <a:srgbClr val="94A3B8"/>
                </a:solidFill>
                <a:latin typeface="Arial"/>
              </a:defRPr>
            </a:pPr>
            <a:r>
              <a:t>Cross-selling large portfolios and securing multi-million-dollar commitments</a:t>
            </a:r>
          </a:p>
        </p:txBody>
      </p:sp>
      <p:sp>
        <p:nvSpPr>
          <p:cNvPr id="4" name="Rounded Rectangle 3"/>
          <p:cNvSpPr/>
          <p:nvPr/>
        </p:nvSpPr>
        <p:spPr>
          <a:xfrm>
            <a:off x="731520" y="1691640"/>
            <a:ext cx="342900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3063240" cy="4297680"/>
          </a:xfrm>
          <a:prstGeom prst="rect">
            <a:avLst/>
          </a:prstGeom>
          <a:noFill/>
        </p:spPr>
        <p:txBody>
          <a:bodyPr wrap="square">
            <a:spAutoFit/>
          </a:bodyPr>
          <a:lstStyle/>
          <a:p>
            <a:pPr>
              <a:defRPr sz="1000" b="1">
                <a:solidFill>
                  <a:srgbClr val="10B981"/>
                </a:solidFill>
                <a:latin typeface="Arial"/>
              </a:defRPr>
            </a:pPr>
            <a:r>
              <a:t>$5M+ SPONSORSHIP WIN</a:t>
            </a:r>
          </a:p>
          <a:p>
            <a:pPr>
              <a:spcBef>
                <a:spcPts val="300"/>
              </a:spcBef>
              <a:defRPr sz="1300" b="1">
                <a:solidFill>
                  <a:srgbClr val="FFFFFF"/>
                </a:solidFill>
                <a:latin typeface="Arial"/>
              </a:defRPr>
            </a:pPr>
            <a:r>
              <a:t>Banc of California Stadium</a:t>
            </a:r>
          </a:p>
          <a:p>
            <a:pPr>
              <a:spcBef>
                <a:spcPts val="100"/>
              </a:spcBef>
              <a:defRPr sz="1000">
                <a:solidFill>
                  <a:srgbClr val="38BDF8"/>
                </a:solidFill>
                <a:latin typeface="Arial"/>
              </a:defRPr>
            </a:pPr>
            <a:r>
              <a:t>Sports &amp; Entertainment</a:t>
            </a:r>
          </a:p>
          <a:p>
            <a:pPr>
              <a:spcBef>
                <a:spcPts val="800"/>
              </a:spcBef>
              <a:defRPr sz="950" i="1">
                <a:solidFill>
                  <a:srgbClr val="CBD5E1"/>
                </a:solidFill>
                <a:latin typeface="Arial"/>
              </a:defRPr>
            </a:pPr>
            <a:r>
              <a:t>"Securing international sponsorships and high-value private events required demonstrating our premium suites to overseas stakeholders. Visiting Media enabled us to close a multi-million-dollar deal entirely remote without a single in-person site inspection."</a:t>
            </a:r>
          </a:p>
          <a:p>
            <a:pPr>
              <a:spcBef>
                <a:spcPts val="400"/>
              </a:spcBef>
              <a:defRPr sz="900" b="1">
                <a:solidFill>
                  <a:srgbClr val="94A3B8"/>
                </a:solidFill>
                <a:latin typeface="Arial"/>
              </a:defRPr>
            </a:pPr>
            <a:r>
              <a:t>— VP of Corporate Partnerships</a:t>
            </a:r>
          </a:p>
          <a:p>
            <a:pPr>
              <a:spcBef>
                <a:spcPts val="400"/>
              </a:spcBef>
              <a:defRPr sz="900" b="1">
                <a:solidFill>
                  <a:srgbClr val="38BDF8"/>
                </a:solidFill>
                <a:latin typeface="Arial"/>
              </a:defRPr>
            </a:pPr>
            <a:r>
              <a:t>• $5,000,000+: </a:t>
            </a:r>
            <a:r>
              <a:rPr b="0">
                <a:solidFill>
                  <a:srgbClr val="94A3B8"/>
                </a:solidFill>
              </a:rPr>
              <a:t>Enterprise sponsorship closed remotely</a:t>
            </a:r>
          </a:p>
          <a:p>
            <a:pPr>
              <a:spcBef>
                <a:spcPts val="400"/>
              </a:spcBef>
              <a:defRPr sz="900" b="1">
                <a:solidFill>
                  <a:srgbClr val="38BDF8"/>
                </a:solidFill>
                <a:latin typeface="Arial"/>
              </a:defRPr>
            </a:pPr>
            <a:r>
              <a:t>• Remote C-Suite: </a:t>
            </a:r>
            <a:r>
              <a:rPr b="0">
                <a:solidFill>
                  <a:srgbClr val="94A3B8"/>
                </a:solidFill>
              </a:rPr>
              <a:t>Engaged European buyers with zero travel</a:t>
            </a:r>
          </a:p>
          <a:p>
            <a:pPr>
              <a:spcBef>
                <a:spcPts val="400"/>
              </a:spcBef>
              <a:defRPr sz="900" b="1">
                <a:solidFill>
                  <a:srgbClr val="38BDF8"/>
                </a:solidFill>
                <a:latin typeface="Arial"/>
              </a:defRPr>
            </a:pPr>
            <a:r>
              <a:t>• Premium Suite Sales: </a:t>
            </a:r>
            <a:r>
              <a:rPr b="0">
                <a:solidFill>
                  <a:srgbClr val="94A3B8"/>
                </a:solidFill>
              </a:rPr>
              <a:t>Visualized VIP sightlines and branding</a:t>
            </a:r>
          </a:p>
        </p:txBody>
      </p:sp>
      <p:sp>
        <p:nvSpPr>
          <p:cNvPr id="6" name="Rounded Rectangle 5"/>
          <p:cNvSpPr/>
          <p:nvPr/>
        </p:nvSpPr>
        <p:spPr>
          <a:xfrm>
            <a:off x="4379976" y="1691640"/>
            <a:ext cx="342900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828800"/>
            <a:ext cx="3063240" cy="4297680"/>
          </a:xfrm>
          <a:prstGeom prst="rect">
            <a:avLst/>
          </a:prstGeom>
          <a:noFill/>
        </p:spPr>
        <p:txBody>
          <a:bodyPr wrap="square">
            <a:spAutoFit/>
          </a:bodyPr>
          <a:lstStyle/>
          <a:p>
            <a:pPr>
              <a:defRPr sz="1000" b="1">
                <a:solidFill>
                  <a:srgbClr val="10B981"/>
                </a:solidFill>
                <a:latin typeface="Arial"/>
              </a:defRPr>
            </a:pPr>
            <a:r>
              <a:t>PORTFOLIO CROSS-SELLING</a:t>
            </a:r>
          </a:p>
          <a:p>
            <a:pPr>
              <a:spcBef>
                <a:spcPts val="300"/>
              </a:spcBef>
              <a:defRPr sz="1300" b="1">
                <a:solidFill>
                  <a:srgbClr val="FFFFFF"/>
                </a:solidFill>
                <a:latin typeface="Arial"/>
              </a:defRPr>
            </a:pPr>
            <a:r>
              <a:t>Remington Hospitality</a:t>
            </a:r>
          </a:p>
          <a:p>
            <a:pPr>
              <a:spcBef>
                <a:spcPts val="100"/>
              </a:spcBef>
              <a:defRPr sz="1000">
                <a:solidFill>
                  <a:srgbClr val="38BDF8"/>
                </a:solidFill>
                <a:latin typeface="Arial"/>
              </a:defRPr>
            </a:pPr>
            <a:r>
              <a:t>100+ Property Portfolio</a:t>
            </a:r>
          </a:p>
          <a:p>
            <a:pPr>
              <a:spcBef>
                <a:spcPts val="800"/>
              </a:spcBef>
              <a:defRPr sz="950" i="1">
                <a:solidFill>
                  <a:srgbClr val="CBD5E1"/>
                </a:solidFill>
                <a:latin typeface="Arial"/>
              </a:defRPr>
            </a:pPr>
            <a:r>
              <a:t>"With more than 100 properties in our portfolio, our regional sales directors use Visiting Media to cross-sell sister hotels whenever a primary venue is unavailable. We retain group business within the portfolio that previously walked to comp sets."</a:t>
            </a:r>
          </a:p>
          <a:p>
            <a:pPr>
              <a:spcBef>
                <a:spcPts val="400"/>
              </a:spcBef>
              <a:defRPr sz="900" b="1">
                <a:solidFill>
                  <a:srgbClr val="94A3B8"/>
                </a:solidFill>
                <a:latin typeface="Arial"/>
              </a:defRPr>
            </a:pPr>
            <a:r>
              <a:t>— SVP of Sales &amp; Marketing</a:t>
            </a:r>
          </a:p>
          <a:p>
            <a:pPr>
              <a:spcBef>
                <a:spcPts val="400"/>
              </a:spcBef>
              <a:defRPr sz="900" b="1">
                <a:solidFill>
                  <a:srgbClr val="38BDF8"/>
                </a:solidFill>
                <a:latin typeface="Arial"/>
              </a:defRPr>
            </a:pPr>
            <a:r>
              <a:t>• 100+ Properties: </a:t>
            </a:r>
            <a:r>
              <a:rPr b="0">
                <a:solidFill>
                  <a:srgbClr val="94A3B8"/>
                </a:solidFill>
              </a:rPr>
              <a:t>Enterprise spatial standard deployed</a:t>
            </a:r>
          </a:p>
          <a:p>
            <a:pPr>
              <a:spcBef>
                <a:spcPts val="400"/>
              </a:spcBef>
              <a:defRPr sz="900" b="1">
                <a:solidFill>
                  <a:srgbClr val="38BDF8"/>
                </a:solidFill>
                <a:latin typeface="Arial"/>
              </a:defRPr>
            </a:pPr>
            <a:r>
              <a:t>• Lead Retention: </a:t>
            </a:r>
            <a:r>
              <a:rPr b="0">
                <a:solidFill>
                  <a:srgbClr val="94A3B8"/>
                </a:solidFill>
              </a:rPr>
              <a:t>Instant pivot of overflow leads to sister assets</a:t>
            </a:r>
          </a:p>
          <a:p>
            <a:pPr>
              <a:spcBef>
                <a:spcPts val="400"/>
              </a:spcBef>
              <a:defRPr sz="900" b="1">
                <a:solidFill>
                  <a:srgbClr val="38BDF8"/>
                </a:solidFill>
                <a:latin typeface="Arial"/>
              </a:defRPr>
            </a:pPr>
            <a:r>
              <a:t>• Seller Mobility: </a:t>
            </a:r>
            <a:r>
              <a:rPr b="0">
                <a:solidFill>
                  <a:srgbClr val="94A3B8"/>
                </a:solidFill>
              </a:rPr>
              <a:t>Reps sell hotels they have never visited</a:t>
            </a:r>
          </a:p>
        </p:txBody>
      </p:sp>
      <p:sp>
        <p:nvSpPr>
          <p:cNvPr id="8" name="Rounded Rectangle 7"/>
          <p:cNvSpPr/>
          <p:nvPr/>
        </p:nvSpPr>
        <p:spPr>
          <a:xfrm>
            <a:off x="8028432" y="1691640"/>
            <a:ext cx="342900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828800"/>
            <a:ext cx="3063240" cy="4297680"/>
          </a:xfrm>
          <a:prstGeom prst="rect">
            <a:avLst/>
          </a:prstGeom>
          <a:noFill/>
        </p:spPr>
        <p:txBody>
          <a:bodyPr wrap="square">
            <a:spAutoFit/>
          </a:bodyPr>
          <a:lstStyle/>
          <a:p>
            <a:pPr>
              <a:defRPr sz="1000" b="1">
                <a:solidFill>
                  <a:srgbClr val="10B981"/>
                </a:solidFill>
                <a:latin typeface="Arial"/>
              </a:defRPr>
            </a:pPr>
            <a:r>
              <a:t>C-SUITE FRICTIONLESS SIGN-OFF</a:t>
            </a:r>
          </a:p>
          <a:p>
            <a:pPr>
              <a:spcBef>
                <a:spcPts val="300"/>
              </a:spcBef>
              <a:defRPr sz="1300" b="1">
                <a:solidFill>
                  <a:srgbClr val="FFFFFF"/>
                </a:solidFill>
                <a:latin typeface="Arial"/>
              </a:defRPr>
            </a:pPr>
            <a:r>
              <a:t>Waldorf Astoria Chicago</a:t>
            </a:r>
          </a:p>
          <a:p>
            <a:pPr>
              <a:spcBef>
                <a:spcPts val="100"/>
              </a:spcBef>
              <a:defRPr sz="1000">
                <a:solidFill>
                  <a:srgbClr val="38BDF8"/>
                </a:solidFill>
                <a:latin typeface="Arial"/>
              </a:defRPr>
            </a:pPr>
            <a:r>
              <a:t>Ultra-Luxury Flagship</a:t>
            </a:r>
          </a:p>
          <a:p>
            <a:pPr>
              <a:spcBef>
                <a:spcPts val="800"/>
              </a:spcBef>
              <a:defRPr sz="950" i="1">
                <a:solidFill>
                  <a:srgbClr val="CBD5E1"/>
                </a:solidFill>
                <a:latin typeface="Arial"/>
              </a:defRPr>
            </a:pPr>
            <a:r>
              <a:t>"Luxury event planners and bridal clients demand absolute perfection. Being able to showcase our presidential ballrooms and private dining spaces in photorealistic 3D gives our clients complete confidence to book at top-of-market ADR."</a:t>
            </a:r>
          </a:p>
          <a:p>
            <a:pPr>
              <a:spcBef>
                <a:spcPts val="400"/>
              </a:spcBef>
              <a:defRPr sz="900" b="1">
                <a:solidFill>
                  <a:srgbClr val="94A3B8"/>
                </a:solidFill>
                <a:latin typeface="Arial"/>
              </a:defRPr>
            </a:pPr>
            <a:r>
              <a:t>— Director of Catering &amp; Events</a:t>
            </a:r>
          </a:p>
          <a:p>
            <a:pPr>
              <a:spcBef>
                <a:spcPts val="400"/>
              </a:spcBef>
              <a:defRPr sz="900" b="1">
                <a:solidFill>
                  <a:srgbClr val="38BDF8"/>
                </a:solidFill>
                <a:latin typeface="Arial"/>
              </a:defRPr>
            </a:pPr>
            <a:r>
              <a:t>• Top ADR: </a:t>
            </a:r>
            <a:r>
              <a:rPr b="0">
                <a:solidFill>
                  <a:srgbClr val="94A3B8"/>
                </a:solidFill>
              </a:rPr>
              <a:t>Defends premium pricing without discounting</a:t>
            </a:r>
          </a:p>
          <a:p>
            <a:pPr>
              <a:spcBef>
                <a:spcPts val="400"/>
              </a:spcBef>
              <a:defRPr sz="900" b="1">
                <a:solidFill>
                  <a:srgbClr val="38BDF8"/>
                </a:solidFill>
                <a:latin typeface="Arial"/>
              </a:defRPr>
            </a:pPr>
            <a:r>
              <a:t>• Privacy Protected: </a:t>
            </a:r>
            <a:r>
              <a:rPr b="0">
                <a:solidFill>
                  <a:srgbClr val="94A3B8"/>
                </a:solidFill>
              </a:rPr>
              <a:t>No need to disturb VIP guests for showings</a:t>
            </a:r>
          </a:p>
          <a:p>
            <a:pPr>
              <a:spcBef>
                <a:spcPts val="400"/>
              </a:spcBef>
              <a:defRPr sz="900" b="1">
                <a:solidFill>
                  <a:srgbClr val="38BDF8"/>
                </a:solidFill>
                <a:latin typeface="Arial"/>
              </a:defRPr>
            </a:pPr>
            <a:r>
              <a:t>• 14-Day Payback: </a:t>
            </a:r>
            <a:r>
              <a:rPr b="0">
                <a:solidFill>
                  <a:srgbClr val="94A3B8"/>
                </a:solidFill>
              </a:rPr>
              <a:t>Immediate return from first luxury booking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97280"/>
          </a:xfrm>
          <a:prstGeom prst="rect">
            <a:avLst/>
          </a:prstGeom>
          <a:noFill/>
        </p:spPr>
        <p:txBody>
          <a:bodyPr wrap="square" lIns="0" tIns="0" rIns="0" bIns="0">
            <a:spAutoFit/>
          </a:bodyPr>
          <a:lstStyle/>
          <a:p>
            <a:pPr>
              <a:defRPr sz="1100" b="1">
                <a:solidFill>
                  <a:srgbClr val="38BDF8"/>
                </a:solidFill>
                <a:latin typeface="Arial"/>
              </a:defRPr>
            </a:pPr>
            <a:r>
              <a:t>BUYER PERSONA ALIGNMENT</a:t>
            </a:r>
          </a:p>
          <a:p>
            <a:pPr>
              <a:spcBef>
                <a:spcPts val="300"/>
              </a:spcBef>
              <a:defRPr sz="2400" b="1">
                <a:solidFill>
                  <a:srgbClr val="FFFFFF"/>
                </a:solidFill>
                <a:latin typeface="Arial"/>
              </a:defRPr>
            </a:pPr>
            <a:r>
              <a:t>Tailored Value Drivers by Stakeholder</a:t>
            </a:r>
          </a:p>
          <a:p>
            <a:pPr>
              <a:spcBef>
                <a:spcPts val="300"/>
              </a:spcBef>
              <a:defRPr sz="1200">
                <a:solidFill>
                  <a:srgbClr val="94A3B8"/>
                </a:solidFill>
                <a:latin typeface="Arial"/>
              </a:defRPr>
            </a:pPr>
            <a:r>
              <a:t>How Visiting Media solves the distinct operational priorities of each decision-maker</a:t>
            </a:r>
          </a:p>
        </p:txBody>
      </p:sp>
      <p:sp>
        <p:nvSpPr>
          <p:cNvPr id="4" name="Rounded Rectangle 3"/>
          <p:cNvSpPr/>
          <p:nvPr/>
        </p:nvSpPr>
        <p:spPr>
          <a:xfrm>
            <a:off x="731520" y="1691640"/>
            <a:ext cx="342900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3063240" cy="4114800"/>
          </a:xfrm>
          <a:prstGeom prst="rect">
            <a:avLst/>
          </a:prstGeom>
          <a:noFill/>
        </p:spPr>
        <p:txBody>
          <a:bodyPr wrap="square">
            <a:spAutoFit/>
          </a:bodyPr>
          <a:lstStyle/>
          <a:p>
            <a:pPr>
              <a:defRPr sz="1400" b="1">
                <a:solidFill>
                  <a:srgbClr val="38BDF8"/>
                </a:solidFill>
                <a:latin typeface="Arial"/>
              </a:defRPr>
            </a:pPr>
            <a:r>
              <a:t>Director of Sales &amp; Marketing</a:t>
            </a:r>
          </a:p>
          <a:p>
            <a:pPr>
              <a:spcBef>
                <a:spcPts val="300"/>
              </a:spcBef>
              <a:defRPr sz="1000" b="1">
                <a:solidFill>
                  <a:srgbClr val="10B981"/>
                </a:solidFill>
                <a:latin typeface="Arial"/>
              </a:defRPr>
            </a:pPr>
            <a:r>
              <a:t>DOSM Focus: Quota, Close Rate &amp; RevPAR Index</a:t>
            </a:r>
          </a:p>
          <a:p>
            <a:pPr>
              <a:spcBef>
                <a:spcPts val="1000"/>
              </a:spcBef>
              <a:defRPr sz="1000" b="1">
                <a:solidFill>
                  <a:srgbClr val="FFFFFF"/>
                </a:solidFill>
                <a:latin typeface="Arial"/>
              </a:defRPr>
            </a:pPr>
            <a:r>
              <a:t>• Rapid RFP Response: </a:t>
            </a:r>
            <a:r>
              <a:rPr b="0">
                <a:solidFill>
                  <a:srgbClr val="94A3B8"/>
                </a:solidFill>
              </a:rPr>
              <a:t>Arm reps with immediate immersive links that win the critical 56% first-responder advantage.</a:t>
            </a:r>
          </a:p>
          <a:p>
            <a:pPr>
              <a:spcBef>
                <a:spcPts val="1000"/>
              </a:spcBef>
              <a:defRPr sz="1000" b="1">
                <a:solidFill>
                  <a:srgbClr val="FFFFFF"/>
                </a:solidFill>
                <a:latin typeface="Arial"/>
              </a:defRPr>
            </a:pPr>
            <a:r>
              <a:t>• Higher Conversion Rates: </a:t>
            </a:r>
            <a:r>
              <a:rPr b="0">
                <a:solidFill>
                  <a:srgbClr val="94A3B8"/>
                </a:solidFill>
              </a:rPr>
              <a:t>Lift closing ratios by +25% to +39% through self-evident visual certainty.</a:t>
            </a:r>
          </a:p>
          <a:p>
            <a:pPr>
              <a:spcBef>
                <a:spcPts val="1000"/>
              </a:spcBef>
              <a:defRPr sz="1000" b="1">
                <a:solidFill>
                  <a:srgbClr val="FFFFFF"/>
                </a:solidFill>
                <a:latin typeface="Arial"/>
              </a:defRPr>
            </a:pPr>
            <a:r>
              <a:t>• Shorter Sales Cycles: </a:t>
            </a:r>
            <a:r>
              <a:rPr b="0">
                <a:solidFill>
                  <a:srgbClr val="94A3B8"/>
                </a:solidFill>
              </a:rPr>
              <a:t>Cut closing time from 35 to 18 days by conducting live virtual walkthroughs.</a:t>
            </a:r>
          </a:p>
          <a:p>
            <a:pPr>
              <a:spcBef>
                <a:spcPts val="1000"/>
              </a:spcBef>
              <a:defRPr sz="1000" b="1">
                <a:solidFill>
                  <a:srgbClr val="FFFFFF"/>
                </a:solidFill>
                <a:latin typeface="Arial"/>
              </a:defRPr>
            </a:pPr>
            <a:r>
              <a:t>• Rep Productivity: </a:t>
            </a:r>
            <a:r>
              <a:rPr b="0">
                <a:solidFill>
                  <a:srgbClr val="94A3B8"/>
                </a:solidFill>
              </a:rPr>
              <a:t>Reclaim 400+ hours per seller annually from manual tour logistics.</a:t>
            </a:r>
          </a:p>
        </p:txBody>
      </p:sp>
      <p:sp>
        <p:nvSpPr>
          <p:cNvPr id="6" name="Rounded Rectangle 5"/>
          <p:cNvSpPr/>
          <p:nvPr/>
        </p:nvSpPr>
        <p:spPr>
          <a:xfrm>
            <a:off x="4379976" y="1691640"/>
            <a:ext cx="342900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62856" y="1874519"/>
            <a:ext cx="3063240" cy="4114800"/>
          </a:xfrm>
          <a:prstGeom prst="rect">
            <a:avLst/>
          </a:prstGeom>
          <a:noFill/>
        </p:spPr>
        <p:txBody>
          <a:bodyPr wrap="square">
            <a:spAutoFit/>
          </a:bodyPr>
          <a:lstStyle/>
          <a:p>
            <a:pPr>
              <a:defRPr sz="1400" b="1">
                <a:solidFill>
                  <a:srgbClr val="38BDF8"/>
                </a:solidFill>
                <a:latin typeface="Arial"/>
              </a:defRPr>
            </a:pPr>
            <a:r>
              <a:t>General Manager &amp; Ownership</a:t>
            </a:r>
          </a:p>
          <a:p>
            <a:pPr>
              <a:spcBef>
                <a:spcPts val="300"/>
              </a:spcBef>
              <a:defRPr sz="1000" b="1">
                <a:solidFill>
                  <a:srgbClr val="10B981"/>
                </a:solidFill>
                <a:latin typeface="Arial"/>
              </a:defRPr>
            </a:pPr>
            <a:r>
              <a:t>GM / Asset Mgr Focus: NOI, CapEx &amp; Flow-Through</a:t>
            </a:r>
          </a:p>
          <a:p>
            <a:pPr>
              <a:spcBef>
                <a:spcPts val="1000"/>
              </a:spcBef>
              <a:defRPr sz="1000" b="1">
                <a:solidFill>
                  <a:srgbClr val="FFFFFF"/>
                </a:solidFill>
                <a:latin typeface="Arial"/>
              </a:defRPr>
            </a:pPr>
            <a:r>
              <a:t>• Direct NOI Impact: </a:t>
            </a:r>
            <a:r>
              <a:rPr b="0">
                <a:solidFill>
                  <a:srgbClr val="94A3B8"/>
                </a:solidFill>
              </a:rPr>
              <a:t>Converts high-margin group and banquet demand straight to bottom-line profitability.</a:t>
            </a:r>
          </a:p>
          <a:p>
            <a:pPr>
              <a:spcBef>
                <a:spcPts val="1000"/>
              </a:spcBef>
              <a:defRPr sz="1000" b="1">
                <a:solidFill>
                  <a:srgbClr val="FFFFFF"/>
                </a:solidFill>
                <a:latin typeface="Arial"/>
              </a:defRPr>
            </a:pPr>
            <a:r>
              <a:t>• Fast Capital Payback: </a:t>
            </a:r>
            <a:r>
              <a:rPr b="0">
                <a:solidFill>
                  <a:srgbClr val="94A3B8"/>
                </a:solidFill>
              </a:rPr>
              <a:t>Achieves 100% payback in under 5 months, self-funding before annual review.</a:t>
            </a:r>
          </a:p>
          <a:p>
            <a:pPr>
              <a:spcBef>
                <a:spcPts val="1000"/>
              </a:spcBef>
              <a:defRPr sz="1000" b="1">
                <a:solidFill>
                  <a:srgbClr val="FFFFFF"/>
                </a:solidFill>
                <a:latin typeface="Arial"/>
              </a:defRPr>
            </a:pPr>
            <a:r>
              <a:t>• ADR Defense: </a:t>
            </a:r>
            <a:r>
              <a:rPr b="0">
                <a:solidFill>
                  <a:srgbClr val="94A3B8"/>
                </a:solidFill>
              </a:rPr>
              <a:t>Demonstrates architectural superiority to protect premium pricing against comp set discounts.</a:t>
            </a:r>
          </a:p>
          <a:p>
            <a:pPr>
              <a:spcBef>
                <a:spcPts val="1000"/>
              </a:spcBef>
              <a:defRPr sz="1000" b="1">
                <a:solidFill>
                  <a:srgbClr val="FFFFFF"/>
                </a:solidFill>
                <a:latin typeface="Arial"/>
              </a:defRPr>
            </a:pPr>
            <a:r>
              <a:t>• Zero Physical Wear: </a:t>
            </a:r>
            <a:r>
              <a:rPr b="0">
                <a:solidFill>
                  <a:srgbClr val="94A3B8"/>
                </a:solidFill>
              </a:rPr>
              <a:t>Allows continuous prospect tours without disturbing guest privacy or taking rooms offline.</a:t>
            </a:r>
          </a:p>
        </p:txBody>
      </p:sp>
      <p:sp>
        <p:nvSpPr>
          <p:cNvPr id="8" name="Rounded Rectangle 7"/>
          <p:cNvSpPr/>
          <p:nvPr/>
        </p:nvSpPr>
        <p:spPr>
          <a:xfrm>
            <a:off x="8028432" y="1691640"/>
            <a:ext cx="3429000" cy="457200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11312" y="1874519"/>
            <a:ext cx="3063240" cy="4114800"/>
          </a:xfrm>
          <a:prstGeom prst="rect">
            <a:avLst/>
          </a:prstGeom>
          <a:noFill/>
        </p:spPr>
        <p:txBody>
          <a:bodyPr wrap="square">
            <a:spAutoFit/>
          </a:bodyPr>
          <a:lstStyle/>
          <a:p>
            <a:pPr>
              <a:defRPr sz="1400" b="1">
                <a:solidFill>
                  <a:srgbClr val="38BDF8"/>
                </a:solidFill>
                <a:latin typeface="Arial"/>
              </a:defRPr>
            </a:pPr>
            <a:r>
              <a:t>VP of Sales &amp; Corporate Brand</a:t>
            </a:r>
          </a:p>
          <a:p>
            <a:pPr>
              <a:spcBef>
                <a:spcPts val="300"/>
              </a:spcBef>
              <a:defRPr sz="1000" b="1">
                <a:solidFill>
                  <a:srgbClr val="10B981"/>
                </a:solidFill>
                <a:latin typeface="Arial"/>
              </a:defRPr>
            </a:pPr>
            <a:r>
              <a:t>Enterprise VP Focus: Portfolio Scaling &amp; Ramp</a:t>
            </a:r>
          </a:p>
          <a:p>
            <a:pPr>
              <a:spcBef>
                <a:spcPts val="1000"/>
              </a:spcBef>
              <a:defRPr sz="1000" b="1">
                <a:solidFill>
                  <a:srgbClr val="FFFFFF"/>
                </a:solidFill>
                <a:latin typeface="Arial"/>
              </a:defRPr>
            </a:pPr>
            <a:r>
              <a:t>• Portfolio Cross-Selling: </a:t>
            </a:r>
            <a:r>
              <a:rPr b="0">
                <a:solidFill>
                  <a:srgbClr val="94A3B8"/>
                </a:solidFill>
              </a:rPr>
              <a:t>Enables on-property reps to seamlessly sell regional sister hotels to retain leads.</a:t>
            </a:r>
          </a:p>
          <a:p>
            <a:pPr>
              <a:spcBef>
                <a:spcPts val="1000"/>
              </a:spcBef>
              <a:defRPr sz="1000" b="1">
                <a:solidFill>
                  <a:srgbClr val="FFFFFF"/>
                </a:solidFill>
                <a:latin typeface="Arial"/>
              </a:defRPr>
            </a:pPr>
            <a:r>
              <a:t>• Accelerated Seller Ramp: </a:t>
            </a:r>
            <a:r>
              <a:rPr b="0">
                <a:solidFill>
                  <a:srgbClr val="94A3B8"/>
                </a:solidFill>
              </a:rPr>
              <a:t>Onboards new hotel sales reps 60% faster by letting them tour every square foot digitally.</a:t>
            </a:r>
          </a:p>
          <a:p>
            <a:pPr>
              <a:spcBef>
                <a:spcPts val="1000"/>
              </a:spcBef>
              <a:defRPr sz="1000" b="1">
                <a:solidFill>
                  <a:srgbClr val="FFFFFF"/>
                </a:solidFill>
                <a:latin typeface="Arial"/>
              </a:defRPr>
            </a:pPr>
            <a:r>
              <a:t>• Brand Consistency: </a:t>
            </a:r>
            <a:r>
              <a:rPr b="0">
                <a:solidFill>
                  <a:srgbClr val="94A3B8"/>
                </a:solidFill>
              </a:rPr>
              <a:t>Enforces pristine visual asset quality and floor plan accuracy across all global properties.</a:t>
            </a:r>
          </a:p>
          <a:p>
            <a:pPr>
              <a:spcBef>
                <a:spcPts val="1000"/>
              </a:spcBef>
              <a:defRPr sz="1000" b="1">
                <a:solidFill>
                  <a:srgbClr val="FFFFFF"/>
                </a:solidFill>
                <a:latin typeface="Arial"/>
              </a:defRPr>
            </a:pPr>
            <a:r>
              <a:t>• Centralized Content Governance: </a:t>
            </a:r>
            <a:r>
              <a:rPr b="0">
                <a:solidFill>
                  <a:srgbClr val="94A3B8"/>
                </a:solidFill>
              </a:rPr>
              <a:t>Distribute updates across brand websites, third-party channels, and sales decks from one CMS.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97280"/>
          </a:xfrm>
          <a:prstGeom prst="rect">
            <a:avLst/>
          </a:prstGeom>
          <a:noFill/>
        </p:spPr>
        <p:txBody>
          <a:bodyPr wrap="square" lIns="0" tIns="0" rIns="0" bIns="0">
            <a:spAutoFit/>
          </a:bodyPr>
          <a:lstStyle/>
          <a:p>
            <a:pPr>
              <a:defRPr sz="1100" b="1">
                <a:solidFill>
                  <a:srgbClr val="38BDF8"/>
                </a:solidFill>
                <a:latin typeface="Arial"/>
              </a:defRPr>
            </a:pPr>
            <a:r>
              <a:t>COMMERCIAL OBJECTION PLAYBOOK</a:t>
            </a:r>
          </a:p>
          <a:p>
            <a:pPr>
              <a:spcBef>
                <a:spcPts val="300"/>
              </a:spcBef>
              <a:defRPr sz="2400" b="1">
                <a:solidFill>
                  <a:srgbClr val="FFFFFF"/>
                </a:solidFill>
                <a:latin typeface="Arial"/>
              </a:defRPr>
            </a:pPr>
            <a:r>
              <a:t>Handling Prospect Objections with Data</a:t>
            </a:r>
          </a:p>
          <a:p>
            <a:pPr>
              <a:spcBef>
                <a:spcPts val="300"/>
              </a:spcBef>
              <a:defRPr sz="1200">
                <a:solidFill>
                  <a:srgbClr val="94A3B8"/>
                </a:solidFill>
                <a:latin typeface="Arial"/>
              </a:defRPr>
            </a:pPr>
            <a:r>
              <a:t>Evidence-based responses to standard buyer hesitation in sales conversations</a:t>
            </a:r>
          </a:p>
        </p:txBody>
      </p:sp>
      <p:sp>
        <p:nvSpPr>
          <p:cNvPr id="4" name="Rounded Rectangle 3"/>
          <p:cNvSpPr/>
          <p:nvPr/>
        </p:nvSpPr>
        <p:spPr>
          <a:xfrm>
            <a:off x="731520" y="1691640"/>
            <a:ext cx="5166360" cy="214884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20"/>
            <a:ext cx="4709160" cy="1783080"/>
          </a:xfrm>
          <a:prstGeom prst="rect">
            <a:avLst/>
          </a:prstGeom>
          <a:noFill/>
        </p:spPr>
        <p:txBody>
          <a:bodyPr wrap="square">
            <a:spAutoFit/>
          </a:bodyPr>
          <a:lstStyle/>
          <a:p>
            <a:pPr>
              <a:defRPr sz="1100" b="1">
                <a:solidFill>
                  <a:srgbClr val="FBBF24"/>
                </a:solidFill>
                <a:latin typeface="Arial"/>
              </a:defRPr>
            </a:pPr>
            <a:r>
              <a:t>OBJECTION: "Our existing photos and PDF floor plans are sufficient"</a:t>
            </a:r>
          </a:p>
          <a:p>
            <a:pPr>
              <a:spcBef>
                <a:spcPts val="600"/>
              </a:spcBef>
              <a:defRPr sz="1000" b="1">
                <a:solidFill>
                  <a:srgbClr val="38BDF8"/>
                </a:solidFill>
                <a:latin typeface="Arial"/>
              </a:defRPr>
            </a:pPr>
            <a:r>
              <a:t>THE DATA-BACKED REBUTTAL: </a:t>
            </a:r>
            <a:r>
              <a:rPr b="0">
                <a:solidFill>
                  <a:srgbClr val="CBD5E1"/>
                </a:solidFill>
              </a:rPr>
              <a:t>Photos cannot communicate scale, flow, or sightlines. Planners report 2D diagrams create hesitation. Visiting Media's spatial twins drive +130% higher booking intent and shorten deal cycles by 48%.</a:t>
            </a:r>
          </a:p>
        </p:txBody>
      </p:sp>
      <p:sp>
        <p:nvSpPr>
          <p:cNvPr id="6" name="Rounded Rectangle 5"/>
          <p:cNvSpPr/>
          <p:nvPr/>
        </p:nvSpPr>
        <p:spPr>
          <a:xfrm>
            <a:off x="6263640" y="1691640"/>
            <a:ext cx="5166360" cy="214884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874520"/>
            <a:ext cx="4709160" cy="1783080"/>
          </a:xfrm>
          <a:prstGeom prst="rect">
            <a:avLst/>
          </a:prstGeom>
          <a:noFill/>
        </p:spPr>
        <p:txBody>
          <a:bodyPr wrap="square">
            <a:spAutoFit/>
          </a:bodyPr>
          <a:lstStyle/>
          <a:p>
            <a:pPr>
              <a:defRPr sz="1100" b="1">
                <a:solidFill>
                  <a:srgbClr val="FBBF24"/>
                </a:solidFill>
                <a:latin typeface="Arial"/>
              </a:defRPr>
            </a:pPr>
            <a:r>
              <a:t>OBJECTION: "Why not just use Matterport for cheap 3D scans?"</a:t>
            </a:r>
          </a:p>
          <a:p>
            <a:pPr>
              <a:spcBef>
                <a:spcPts val="600"/>
              </a:spcBef>
              <a:defRPr sz="1000" b="1">
                <a:solidFill>
                  <a:srgbClr val="38BDF8"/>
                </a:solidFill>
                <a:latin typeface="Arial"/>
              </a:defRPr>
            </a:pPr>
            <a:r>
              <a:t>THE DATA-BACKED REBUTTAL: </a:t>
            </a:r>
            <a:r>
              <a:rPr b="0">
                <a:solidFill>
                  <a:srgbClr val="CBD5E1"/>
                </a:solidFill>
              </a:rPr>
              <a:t>Matterport is a static camera scan tool with no sales enablement layer. Visiting Media provides an enterprise sales platform: customizable links, lead analytics, interactive floor plan overlays, CMS sync, and cross-property selling.</a:t>
            </a:r>
          </a:p>
        </p:txBody>
      </p:sp>
      <p:sp>
        <p:nvSpPr>
          <p:cNvPr id="8" name="Rounded Rectangle 7"/>
          <p:cNvSpPr/>
          <p:nvPr/>
        </p:nvSpPr>
        <p:spPr>
          <a:xfrm>
            <a:off x="731520" y="4069080"/>
            <a:ext cx="5166360" cy="214884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251960"/>
            <a:ext cx="4709160" cy="1783080"/>
          </a:xfrm>
          <a:prstGeom prst="rect">
            <a:avLst/>
          </a:prstGeom>
          <a:noFill/>
        </p:spPr>
        <p:txBody>
          <a:bodyPr wrap="square">
            <a:spAutoFit/>
          </a:bodyPr>
          <a:lstStyle/>
          <a:p>
            <a:pPr>
              <a:defRPr sz="1100" b="1">
                <a:solidFill>
                  <a:srgbClr val="FBBF24"/>
                </a:solidFill>
                <a:latin typeface="Arial"/>
              </a:defRPr>
            </a:pPr>
            <a:r>
              <a:t>OBJECTION: "We do not have the operating budget allocated this quarter"</a:t>
            </a:r>
          </a:p>
          <a:p>
            <a:pPr>
              <a:spcBef>
                <a:spcPts val="600"/>
              </a:spcBef>
              <a:defRPr sz="1000" b="1">
                <a:solidFill>
                  <a:srgbClr val="38BDF8"/>
                </a:solidFill>
                <a:latin typeface="Arial"/>
              </a:defRPr>
            </a:pPr>
            <a:r>
              <a:t>THE DATA-BACKED REBUTTAL: </a:t>
            </a:r>
            <a:r>
              <a:rPr b="0">
                <a:solidFill>
                  <a:srgbClr val="CBD5E1"/>
                </a:solidFill>
              </a:rPr>
              <a:t>With payback under 5 months, Visiting Media is self-funding. A single incremental group booking typically recoups the property's entire annual subscription.</a:t>
            </a:r>
          </a:p>
        </p:txBody>
      </p:sp>
      <p:sp>
        <p:nvSpPr>
          <p:cNvPr id="10" name="Rounded Rectangle 9"/>
          <p:cNvSpPr/>
          <p:nvPr/>
        </p:nvSpPr>
        <p:spPr>
          <a:xfrm>
            <a:off x="6263640" y="4069080"/>
            <a:ext cx="5166360" cy="214884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4251960"/>
            <a:ext cx="4709160" cy="1783080"/>
          </a:xfrm>
          <a:prstGeom prst="rect">
            <a:avLst/>
          </a:prstGeom>
          <a:noFill/>
        </p:spPr>
        <p:txBody>
          <a:bodyPr wrap="square">
            <a:spAutoFit/>
          </a:bodyPr>
          <a:lstStyle/>
          <a:p>
            <a:pPr>
              <a:defRPr sz="1100" b="1">
                <a:solidFill>
                  <a:srgbClr val="FBBF24"/>
                </a:solidFill>
                <a:latin typeface="Arial"/>
              </a:defRPr>
            </a:pPr>
            <a:r>
              <a:t>OBJECTION: "Corporate meeting planners always demand in-person site visits"</a:t>
            </a:r>
          </a:p>
          <a:p>
            <a:pPr>
              <a:spcBef>
                <a:spcPts val="600"/>
              </a:spcBef>
              <a:defRPr sz="1000" b="1">
                <a:solidFill>
                  <a:srgbClr val="38BDF8"/>
                </a:solidFill>
                <a:latin typeface="Arial"/>
              </a:defRPr>
            </a:pPr>
            <a:r>
              <a:t>THE DATA-BACKED REBUTTAL: </a:t>
            </a:r>
            <a:r>
              <a:rPr b="0">
                <a:solidFill>
                  <a:srgbClr val="CBD5E1"/>
                </a:solidFill>
              </a:rPr>
              <a:t>Our tools do not replace final walk-throughs; they accelerate the shortlisting phase. Planners arrive on-site already 90% committed, turning leisurely tours into contract-signing walkthroughs.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728655" cy="1097280"/>
          </a:xfrm>
          <a:prstGeom prst="rect">
            <a:avLst/>
          </a:prstGeom>
          <a:noFill/>
        </p:spPr>
        <p:txBody>
          <a:bodyPr wrap="square" lIns="0" tIns="0" rIns="0" bIns="0">
            <a:spAutoFit/>
          </a:bodyPr>
          <a:lstStyle/>
          <a:p>
            <a:pPr>
              <a:defRPr sz="1100" b="1">
                <a:solidFill>
                  <a:srgbClr val="38BDF8"/>
                </a:solidFill>
                <a:latin typeface="Arial"/>
              </a:defRPr>
            </a:pPr>
            <a:r>
              <a:t>EXECUTIVE ACTION PLAN</a:t>
            </a:r>
          </a:p>
          <a:p>
            <a:pPr>
              <a:spcBef>
                <a:spcPts val="300"/>
              </a:spcBef>
              <a:defRPr sz="2400" b="1">
                <a:solidFill>
                  <a:srgbClr val="FFFFFF"/>
                </a:solidFill>
                <a:latin typeface="Arial"/>
              </a:defRPr>
            </a:pPr>
            <a:r>
              <a:t>Turnkey Deployment Roadmap &amp; Proposal Next Steps</a:t>
            </a:r>
          </a:p>
          <a:p>
            <a:pPr>
              <a:spcBef>
                <a:spcPts val="300"/>
              </a:spcBef>
              <a:defRPr sz="1200">
                <a:solidFill>
                  <a:srgbClr val="94A3B8"/>
                </a:solidFill>
                <a:latin typeface="Arial"/>
              </a:defRPr>
            </a:pPr>
            <a:r>
              <a:t>From initial property capture to full sales team acceleration in under 35 days</a:t>
            </a:r>
          </a:p>
        </p:txBody>
      </p:sp>
      <p:sp>
        <p:nvSpPr>
          <p:cNvPr id="4" name="Rounded Rectangle 3"/>
          <p:cNvSpPr/>
          <p:nvPr/>
        </p:nvSpPr>
        <p:spPr>
          <a:xfrm>
            <a:off x="731520" y="1691640"/>
            <a:ext cx="2514600" cy="292608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74519"/>
            <a:ext cx="2148840" cy="2560320"/>
          </a:xfrm>
          <a:prstGeom prst="rect">
            <a:avLst/>
          </a:prstGeom>
          <a:noFill/>
        </p:spPr>
        <p:txBody>
          <a:bodyPr wrap="square">
            <a:spAutoFit/>
          </a:bodyPr>
          <a:lstStyle/>
          <a:p>
            <a:pPr>
              <a:defRPr sz="1000" b="1">
                <a:solidFill>
                  <a:srgbClr val="38BDF8"/>
                </a:solidFill>
                <a:latin typeface="Arial"/>
              </a:defRPr>
            </a:pPr>
            <a:r>
              <a:t>STEP 1</a:t>
            </a:r>
          </a:p>
          <a:p>
            <a:pPr>
              <a:spcBef>
                <a:spcPts val="400"/>
              </a:spcBef>
              <a:defRPr sz="1300" b="1">
                <a:solidFill>
                  <a:srgbClr val="FFFFFF"/>
                </a:solidFill>
                <a:latin typeface="Arial"/>
              </a:defRPr>
            </a:pPr>
            <a:r>
              <a:t>Phase 1: Digital Capture</a:t>
            </a:r>
          </a:p>
          <a:p>
            <a:pPr>
              <a:spcBef>
                <a:spcPts val="200"/>
              </a:spcBef>
              <a:defRPr sz="1050" b="1">
                <a:solidFill>
                  <a:srgbClr val="10B981"/>
                </a:solidFill>
                <a:latin typeface="Arial"/>
              </a:defRPr>
            </a:pPr>
            <a:r>
              <a:t>Days 1 – 14</a:t>
            </a:r>
          </a:p>
          <a:p>
            <a:pPr>
              <a:spcBef>
                <a:spcPts val="600"/>
              </a:spcBef>
              <a:defRPr sz="950">
                <a:solidFill>
                  <a:srgbClr val="94A3B8"/>
                </a:solidFill>
                <a:latin typeface="Arial"/>
              </a:defRPr>
            </a:pPr>
            <a:r>
              <a:t>Certified spatial capture team scans all ballrooms, breakout spaces, guest suites, and outdoor venues with zero guest disruption.</a:t>
            </a:r>
          </a:p>
        </p:txBody>
      </p:sp>
      <p:sp>
        <p:nvSpPr>
          <p:cNvPr id="6" name="Rounded Rectangle 5"/>
          <p:cNvSpPr/>
          <p:nvPr/>
        </p:nvSpPr>
        <p:spPr>
          <a:xfrm>
            <a:off x="3465576" y="1691640"/>
            <a:ext cx="2514600" cy="292608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48456" y="1874519"/>
            <a:ext cx="2148840" cy="2560320"/>
          </a:xfrm>
          <a:prstGeom prst="rect">
            <a:avLst/>
          </a:prstGeom>
          <a:noFill/>
        </p:spPr>
        <p:txBody>
          <a:bodyPr wrap="square">
            <a:spAutoFit/>
          </a:bodyPr>
          <a:lstStyle/>
          <a:p>
            <a:pPr>
              <a:defRPr sz="1000" b="1">
                <a:solidFill>
                  <a:srgbClr val="38BDF8"/>
                </a:solidFill>
                <a:latin typeface="Arial"/>
              </a:defRPr>
            </a:pPr>
            <a:r>
              <a:t>STEP 2</a:t>
            </a:r>
          </a:p>
          <a:p>
            <a:pPr>
              <a:spcBef>
                <a:spcPts val="400"/>
              </a:spcBef>
              <a:defRPr sz="1300" b="1">
                <a:solidFill>
                  <a:srgbClr val="FFFFFF"/>
                </a:solidFill>
                <a:latin typeface="Arial"/>
              </a:defRPr>
            </a:pPr>
            <a:r>
              <a:t>Phase 2: Platform Config</a:t>
            </a:r>
          </a:p>
          <a:p>
            <a:pPr>
              <a:spcBef>
                <a:spcPts val="200"/>
              </a:spcBef>
              <a:defRPr sz="1050" b="1">
                <a:solidFill>
                  <a:srgbClr val="10B981"/>
                </a:solidFill>
                <a:latin typeface="Arial"/>
              </a:defRPr>
            </a:pPr>
            <a:r>
              <a:t>Days 15 – 22</a:t>
            </a:r>
          </a:p>
          <a:p>
            <a:pPr>
              <a:spcBef>
                <a:spcPts val="600"/>
              </a:spcBef>
              <a:defRPr sz="950">
                <a:solidFill>
                  <a:srgbClr val="94A3B8"/>
                </a:solidFill>
                <a:latin typeface="Arial"/>
              </a:defRPr>
            </a:pPr>
            <a:r>
              <a:t>Custom branding, interactive floor plan overlays, 3D capacity charts, and direct PMS/CMS integrations completed.</a:t>
            </a:r>
          </a:p>
        </p:txBody>
      </p:sp>
      <p:sp>
        <p:nvSpPr>
          <p:cNvPr id="8" name="Rounded Rectangle 7"/>
          <p:cNvSpPr/>
          <p:nvPr/>
        </p:nvSpPr>
        <p:spPr>
          <a:xfrm>
            <a:off x="6199632" y="1691640"/>
            <a:ext cx="2514600" cy="292608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82512" y="1874519"/>
            <a:ext cx="2148840" cy="2560320"/>
          </a:xfrm>
          <a:prstGeom prst="rect">
            <a:avLst/>
          </a:prstGeom>
          <a:noFill/>
        </p:spPr>
        <p:txBody>
          <a:bodyPr wrap="square">
            <a:spAutoFit/>
          </a:bodyPr>
          <a:lstStyle/>
          <a:p>
            <a:pPr>
              <a:defRPr sz="1000" b="1">
                <a:solidFill>
                  <a:srgbClr val="38BDF8"/>
                </a:solidFill>
                <a:latin typeface="Arial"/>
              </a:defRPr>
            </a:pPr>
            <a:r>
              <a:t>STEP 3</a:t>
            </a:r>
          </a:p>
          <a:p>
            <a:pPr>
              <a:spcBef>
                <a:spcPts val="400"/>
              </a:spcBef>
              <a:defRPr sz="1300" b="1">
                <a:solidFill>
                  <a:srgbClr val="FFFFFF"/>
                </a:solidFill>
                <a:latin typeface="Arial"/>
              </a:defRPr>
            </a:pPr>
            <a:r>
              <a:t>Phase 3: Sales Enablement</a:t>
            </a:r>
          </a:p>
          <a:p>
            <a:pPr>
              <a:spcBef>
                <a:spcPts val="200"/>
              </a:spcBef>
              <a:defRPr sz="1050" b="1">
                <a:solidFill>
                  <a:srgbClr val="10B981"/>
                </a:solidFill>
                <a:latin typeface="Arial"/>
              </a:defRPr>
            </a:pPr>
            <a:r>
              <a:t>Days 23 – 30</a:t>
            </a:r>
          </a:p>
          <a:p>
            <a:pPr>
              <a:spcBef>
                <a:spcPts val="600"/>
              </a:spcBef>
              <a:defRPr sz="950">
                <a:solidFill>
                  <a:srgbClr val="94A3B8"/>
                </a:solidFill>
                <a:latin typeface="Arial"/>
              </a:defRPr>
            </a:pPr>
            <a:r>
              <a:t>Comprehensive sales team training on conducting virtual walkthroughs, custom proposal embedding, and objection playbooks.</a:t>
            </a:r>
          </a:p>
        </p:txBody>
      </p:sp>
      <p:sp>
        <p:nvSpPr>
          <p:cNvPr id="10" name="Rounded Rectangle 9"/>
          <p:cNvSpPr/>
          <p:nvPr/>
        </p:nvSpPr>
        <p:spPr>
          <a:xfrm>
            <a:off x="8933688" y="1691640"/>
            <a:ext cx="2514600" cy="2926080"/>
          </a:xfrm>
          <a:prstGeom prst="roundRect">
            <a:avLst/>
          </a:prstGeom>
          <a:solidFill>
            <a:srgbClr val="141E3C"/>
          </a:solidFill>
          <a:ln w="12700">
            <a:solidFill>
              <a:srgbClr val="2B3A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16568" y="1874519"/>
            <a:ext cx="2148840" cy="2560320"/>
          </a:xfrm>
          <a:prstGeom prst="rect">
            <a:avLst/>
          </a:prstGeom>
          <a:noFill/>
        </p:spPr>
        <p:txBody>
          <a:bodyPr wrap="square">
            <a:spAutoFit/>
          </a:bodyPr>
          <a:lstStyle/>
          <a:p>
            <a:pPr>
              <a:defRPr sz="1000" b="1">
                <a:solidFill>
                  <a:srgbClr val="38BDF8"/>
                </a:solidFill>
                <a:latin typeface="Arial"/>
              </a:defRPr>
            </a:pPr>
            <a:r>
              <a:t>STEP 4</a:t>
            </a:r>
          </a:p>
          <a:p>
            <a:pPr>
              <a:spcBef>
                <a:spcPts val="400"/>
              </a:spcBef>
              <a:defRPr sz="1300" b="1">
                <a:solidFill>
                  <a:srgbClr val="FFFFFF"/>
                </a:solidFill>
                <a:latin typeface="Arial"/>
              </a:defRPr>
            </a:pPr>
            <a:r>
              <a:t>Phase 4: Revenue Launch</a:t>
            </a:r>
          </a:p>
          <a:p>
            <a:pPr>
              <a:spcBef>
                <a:spcPts val="200"/>
              </a:spcBef>
              <a:defRPr sz="1050" b="1">
                <a:solidFill>
                  <a:srgbClr val="10B981"/>
                </a:solidFill>
                <a:latin typeface="Arial"/>
              </a:defRPr>
            </a:pPr>
            <a:r>
              <a:t>Days 31+</a:t>
            </a:r>
          </a:p>
          <a:p>
            <a:pPr>
              <a:spcBef>
                <a:spcPts val="600"/>
              </a:spcBef>
              <a:defRPr sz="950">
                <a:solidFill>
                  <a:srgbClr val="94A3B8"/>
                </a:solidFill>
                <a:latin typeface="Arial"/>
              </a:defRPr>
            </a:pPr>
            <a:r>
              <a:t>Full commercial rollout across incoming RFPs, group marketing campaigns, and regional portfolio cross-selling.</a:t>
            </a:r>
          </a:p>
        </p:txBody>
      </p:sp>
      <p:sp>
        <p:nvSpPr>
          <p:cNvPr id="12" name="Rounded Rectangle 11"/>
          <p:cNvSpPr/>
          <p:nvPr/>
        </p:nvSpPr>
        <p:spPr>
          <a:xfrm>
            <a:off x="731520" y="4846320"/>
            <a:ext cx="10728655" cy="1463040"/>
          </a:xfrm>
          <a:prstGeom prst="roundRect">
            <a:avLst/>
          </a:prstGeom>
          <a:solidFill>
            <a:srgbClr val="101C38"/>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4983480"/>
            <a:ext cx="10149840" cy="1188720"/>
          </a:xfrm>
          <a:prstGeom prst="rect">
            <a:avLst/>
          </a:prstGeom>
          <a:noFill/>
        </p:spPr>
        <p:txBody>
          <a:bodyPr wrap="square">
            <a:spAutoFit/>
          </a:bodyPr>
          <a:lstStyle/>
          <a:p>
            <a:pPr>
              <a:defRPr sz="1300" b="1">
                <a:solidFill>
                  <a:srgbClr val="10B981"/>
                </a:solidFill>
                <a:latin typeface="Arial"/>
              </a:defRPr>
            </a:pPr>
            <a:r>
              <a:t>PROPOSAL EXECUTIVE SUMMARY &amp; NEXT STEPS</a:t>
            </a:r>
          </a:p>
          <a:p>
            <a:pPr>
              <a:spcBef>
                <a:spcPts val="400"/>
              </a:spcBef>
              <a:defRPr sz="1050">
                <a:solidFill>
                  <a:srgbClr val="CBD5E1"/>
                </a:solidFill>
                <a:latin typeface="Arial"/>
              </a:defRPr>
            </a:pPr>
            <a:r>
              <a:t>• Accelerate Closing: Cut sales cycle from 35 days to 18 days and lift group win rates by 25–39%.</a:t>
            </a:r>
            <a:br/>
            <a:r>
              <a:t>• Positive Cash Payback: Full capital recovery in &lt; 5 months with an estimated 2.4×–2.8× portfolio ROI multiplier.</a:t>
            </a:r>
            <a:br/>
            <a:r>
              <a:t>• Interactive Sales Enablement Platform: Access live calculator &amp; customized proposals at https://vm-sales-roi-microsite.vercel.app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